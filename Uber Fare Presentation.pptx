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Old Standard TT"/>
      <p:regular r:id="rId20"/>
      <p:bold r:id="rId21"/>
      <p:italic r:id="rId22"/>
    </p:embeddedFont>
    <p:embeddedFont>
      <p:font typeface="Roboto Mono"/>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OldStandardTT-regular.fntdata"/><Relationship Id="rId22" Type="http://schemas.openxmlformats.org/officeDocument/2006/relationships/font" Target="fonts/OldStandardTT-italic.fntdata"/><Relationship Id="rId21" Type="http://schemas.openxmlformats.org/officeDocument/2006/relationships/font" Target="fonts/OldStandardTT-bold.fntdata"/><Relationship Id="rId24" Type="http://schemas.openxmlformats.org/officeDocument/2006/relationships/font" Target="fonts/RobotoMono-bold.fntdata"/><Relationship Id="rId23" Type="http://schemas.openxmlformats.org/officeDocument/2006/relationships/font" Target="fonts/RobotoMon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Mono-boldItalic.fntdata"/><Relationship Id="rId25" Type="http://schemas.openxmlformats.org/officeDocument/2006/relationships/font" Target="fonts/RobotoMon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abc890f39a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abc890f39a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Zainab</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abc890f39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abc890f39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Zainab</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abc890f39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abc890f39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Zainab</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rPr>
              <a:t>Riders:</a:t>
            </a:r>
            <a:r>
              <a:rPr lang="en">
                <a:solidFill>
                  <a:schemeClr val="dk1"/>
                </a:solidFill>
              </a:rPr>
              <a:t> “Our main users. They care about ‘How much will </a:t>
            </a:r>
            <a:r>
              <a:rPr i="1" lang="en">
                <a:solidFill>
                  <a:schemeClr val="dk1"/>
                </a:solidFill>
              </a:rPr>
              <a:t>my</a:t>
            </a:r>
            <a:r>
              <a:rPr lang="en">
                <a:solidFill>
                  <a:schemeClr val="dk1"/>
                </a:solidFill>
              </a:rPr>
              <a:t> ride cost at this time, on this route?’ Better prediction helps them budget and detect unusually high prices.”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rPr>
              <a:t>Drivers:</a:t>
            </a:r>
            <a:r>
              <a:rPr lang="en">
                <a:solidFill>
                  <a:schemeClr val="dk1"/>
                </a:solidFill>
              </a:rPr>
              <a:t> “They can use patterns in fare and demand over space and time to choose when and where to drive to maximize earnings and avoid low-fare trips.”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rPr>
              <a:t>Uber/platform:</a:t>
            </a:r>
            <a:r>
              <a:rPr lang="en">
                <a:solidFill>
                  <a:schemeClr val="dk1"/>
                </a:solidFill>
              </a:rPr>
              <a:t> “The platform uses these models to set dynamic prices that keep wait times low, keep drivers online, and still protect revenue.”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rPr>
              <a:t>City/regulators:</a:t>
            </a:r>
            <a:r>
              <a:rPr lang="en">
                <a:solidFill>
                  <a:schemeClr val="dk1"/>
                </a:solidFill>
              </a:rPr>
              <a:t> “Accurate spatial-temporal fare patterns can inform policies around surge pricing, equity across neighborhoods, and congestion management.”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rPr>
              <a:t>NYC focus:</a:t>
            </a:r>
            <a:r>
              <a:rPr lang="en">
                <a:solidFill>
                  <a:schemeClr val="dk1"/>
                </a:solidFill>
              </a:rPr>
              <a:t> “Because the data is mostly NYC, the numerical results are NYC-specific, but the modeling pipeline can be applied to any city once we have similar data.”</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abc890f39a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abc890f39a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*Jiangyu</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Our data mainly covers trips from 2009–2015, so we engineered features to capture </a:t>
            </a:r>
            <a:r>
              <a:rPr b="1" lang="en">
                <a:solidFill>
                  <a:schemeClr val="dk1"/>
                </a:solidFill>
              </a:rPr>
              <a:t>where</a:t>
            </a:r>
            <a:r>
              <a:rPr lang="en">
                <a:solidFill>
                  <a:schemeClr val="dk1"/>
                </a:solidFill>
              </a:rPr>
              <a:t> and </a:t>
            </a:r>
            <a:r>
              <a:rPr b="1" lang="en">
                <a:solidFill>
                  <a:schemeClr val="dk1"/>
                </a:solidFill>
              </a:rPr>
              <a:t>when</a:t>
            </a:r>
            <a:r>
              <a:rPr lang="en">
                <a:solidFill>
                  <a:schemeClr val="dk1"/>
                </a:solidFill>
              </a:rPr>
              <a:t> a trip happens, and how that might affect price.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First, we computed </a:t>
            </a:r>
            <a:r>
              <a:rPr b="1" lang="en">
                <a:solidFill>
                  <a:schemeClr val="dk1"/>
                </a:solidFill>
              </a:rPr>
              <a:t>trip distance in miles</a:t>
            </a:r>
            <a:r>
              <a:rPr lang="en">
                <a:solidFill>
                  <a:schemeClr val="dk1"/>
                </a:solidFill>
              </a:rPr>
              <a:t> using the haversine formula on pickup and dropoff latitude/longitude. That gives us a more accurate distance than just subtracting coordinates.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Next, we binned </a:t>
            </a:r>
            <a:r>
              <a:rPr b="1" lang="en">
                <a:solidFill>
                  <a:schemeClr val="dk1"/>
                </a:solidFill>
              </a:rPr>
              <a:t>time of day</a:t>
            </a:r>
            <a:r>
              <a:rPr lang="en">
                <a:solidFill>
                  <a:schemeClr val="dk1"/>
                </a:solidFill>
              </a:rPr>
              <a:t> into categories:</a:t>
            </a:r>
            <a:endParaRPr/>
          </a:p>
          <a:p>
            <a:pPr indent="0" lvl="0" marL="0" rtl="0" algn="l">
              <a:spcBef>
                <a:spcPts val="1200"/>
              </a:spcBef>
              <a:spcAft>
                <a:spcPts val="0"/>
              </a:spcAft>
              <a:buNone/>
            </a:pPr>
            <a:r>
              <a:t/>
            </a:r>
            <a:endParaRPr/>
          </a:p>
          <a:p>
            <a:pPr indent="0" lvl="0" marL="0" rtl="0" algn="l">
              <a:spcBef>
                <a:spcPts val="0"/>
              </a:spcBef>
              <a:spcAft>
                <a:spcPts val="0"/>
              </a:spcAft>
              <a:buNone/>
            </a:pPr>
            <a:r>
              <a:rPr lang="en"/>
              <a:t>The time binning was done:</a:t>
            </a:r>
            <a:endParaRPr/>
          </a:p>
          <a:p>
            <a:pPr indent="-298450" lvl="0" marL="457200" rtl="0" algn="l">
              <a:spcBef>
                <a:spcPts val="0"/>
              </a:spcBef>
              <a:spcAft>
                <a:spcPts val="0"/>
              </a:spcAft>
              <a:buSzPts val="1100"/>
              <a:buChar char="●"/>
            </a:pPr>
            <a:r>
              <a:rPr lang="en"/>
              <a:t>Early morning: 4 to 6</a:t>
            </a:r>
            <a:endParaRPr/>
          </a:p>
          <a:p>
            <a:pPr indent="-298450" lvl="0" marL="457200" rtl="0" algn="l">
              <a:spcBef>
                <a:spcPts val="0"/>
              </a:spcBef>
              <a:spcAft>
                <a:spcPts val="0"/>
              </a:spcAft>
              <a:buSzPts val="1100"/>
              <a:buChar char="●"/>
            </a:pPr>
            <a:r>
              <a:rPr lang="en"/>
              <a:t>Morning rush 6 to 10</a:t>
            </a:r>
            <a:endParaRPr/>
          </a:p>
          <a:p>
            <a:pPr indent="-298450" lvl="0" marL="457200" rtl="0" algn="l">
              <a:spcBef>
                <a:spcPts val="0"/>
              </a:spcBef>
              <a:spcAft>
                <a:spcPts val="0"/>
              </a:spcAft>
              <a:buSzPts val="1100"/>
              <a:buChar char="●"/>
            </a:pPr>
            <a:r>
              <a:rPr lang="en"/>
              <a:t>Midday 10-16</a:t>
            </a:r>
            <a:endParaRPr/>
          </a:p>
          <a:p>
            <a:pPr indent="-298450" lvl="0" marL="457200" rtl="0" algn="l">
              <a:spcBef>
                <a:spcPts val="0"/>
              </a:spcBef>
              <a:spcAft>
                <a:spcPts val="0"/>
              </a:spcAft>
              <a:buSzPts val="1100"/>
              <a:buChar char="●"/>
            </a:pPr>
            <a:r>
              <a:rPr lang="en"/>
              <a:t>Evening rush 16-20</a:t>
            </a:r>
            <a:endParaRPr/>
          </a:p>
          <a:p>
            <a:pPr indent="-298450" lvl="0" marL="457200" rtl="0" algn="l">
              <a:spcBef>
                <a:spcPts val="0"/>
              </a:spcBef>
              <a:spcAft>
                <a:spcPts val="0"/>
              </a:spcAft>
              <a:buSzPts val="1100"/>
              <a:buChar char="●"/>
            </a:pPr>
            <a:r>
              <a:rPr lang="en"/>
              <a:t>Evening 20-23</a:t>
            </a:r>
            <a:endParaRPr/>
          </a:p>
          <a:p>
            <a:pPr indent="-298450" lvl="0" marL="457200" rtl="0" algn="l">
              <a:spcBef>
                <a:spcPts val="0"/>
              </a:spcBef>
              <a:spcAft>
                <a:spcPts val="0"/>
              </a:spcAft>
              <a:buSzPts val="1100"/>
              <a:buChar char="●"/>
            </a:pPr>
            <a:r>
              <a:rPr lang="en"/>
              <a:t>23-4 late night</a:t>
            </a:r>
            <a:endParaRPr/>
          </a:p>
          <a:p>
            <a:pPr indent="0" lvl="0" marL="0" rtl="0" algn="l">
              <a:spcBef>
                <a:spcPts val="0"/>
              </a:spcBef>
              <a:spcAft>
                <a:spcPts val="0"/>
              </a:spcAft>
              <a:buNone/>
            </a:pPr>
            <a:r>
              <a:t/>
            </a:r>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On top of that, we created two binary indicators: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Weekday rush hour</a:t>
            </a:r>
            <a:r>
              <a:rPr lang="en">
                <a:solidFill>
                  <a:schemeClr val="dk1"/>
                </a:solidFill>
              </a:rPr>
              <a:t> (weekdays during morning/evening rush), to capture commute-time demand and “surge” behavior.</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Friday/Saturday peak night</a:t>
            </a:r>
            <a:r>
              <a:rPr lang="en">
                <a:solidFill>
                  <a:schemeClr val="dk1"/>
                </a:solidFill>
              </a:rPr>
              <a:t>, to capture the party crowd and weekend nightlife demand.</a:t>
            </a:r>
            <a:br>
              <a:rPr lang="en">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We also kept the </a:t>
            </a:r>
            <a:r>
              <a:rPr b="1" lang="en">
                <a:solidFill>
                  <a:schemeClr val="dk1"/>
                </a:solidFill>
              </a:rPr>
              <a:t>year</a:t>
            </a:r>
            <a:r>
              <a:rPr lang="en">
                <a:solidFill>
                  <a:schemeClr val="dk1"/>
                </a:solidFill>
              </a:rPr>
              <a:t> of the trip and joined in a separate CSV with </a:t>
            </a:r>
            <a:r>
              <a:rPr b="1" lang="en">
                <a:solidFill>
                  <a:schemeClr val="dk1"/>
                </a:solidFill>
              </a:rPr>
              <a:t>inflation data</a:t>
            </a:r>
            <a:r>
              <a:rPr lang="en">
                <a:solidFill>
                  <a:schemeClr val="dk1"/>
                </a:solidFill>
              </a:rPr>
              <a:t>, so we could model how the </a:t>
            </a:r>
            <a:r>
              <a:rPr i="1" lang="en">
                <a:solidFill>
                  <a:schemeClr val="dk1"/>
                </a:solidFill>
              </a:rPr>
              <a:t>average</a:t>
            </a:r>
            <a:r>
              <a:rPr lang="en">
                <a:solidFill>
                  <a:schemeClr val="dk1"/>
                </a:solidFill>
              </a:rPr>
              <a:t> fare-per-mile changes over time and try to forecast to 2025. This ended up being somewhat off for recent years because the underlying trip data is relatively old compared to today’s prices, but it still gives a reasonable long-term trend.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Finally, we used the coordinates of the three major NYC airports—JFK, LaGuardia, and Newark—and added </a:t>
            </a:r>
            <a:r>
              <a:rPr b="1" lang="en">
                <a:solidFill>
                  <a:schemeClr val="dk1"/>
                </a:solidFill>
              </a:rPr>
              <a:t>one-hot indicators</a:t>
            </a:r>
            <a:r>
              <a:rPr lang="en">
                <a:solidFill>
                  <a:schemeClr val="dk1"/>
                </a:solidFill>
              </a:rPr>
              <a:t> for whether pickup or dropoff was near one of these airports. Airport trips are priced differently, so this is an important location signal.</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abc890f39a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abc890f39a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*Jiangyu</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These two maps show why we needed to filter by location.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On the </a:t>
            </a:r>
            <a:r>
              <a:rPr b="1" lang="en">
                <a:solidFill>
                  <a:schemeClr val="dk1"/>
                </a:solidFill>
              </a:rPr>
              <a:t>left</a:t>
            </a:r>
            <a:r>
              <a:rPr lang="en">
                <a:solidFill>
                  <a:schemeClr val="dk1"/>
                </a:solidFill>
              </a:rPr>
              <a:t>, we plot pickup locations for the entire raw dataset. You can see a dense cluster around New York City, but also a bunch of points scattered across the US and even other countries. Those are either other cities or obvious data issues for our NYC-focused project.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On the </a:t>
            </a:r>
            <a:r>
              <a:rPr b="1" lang="en">
                <a:solidFill>
                  <a:schemeClr val="dk1"/>
                </a:solidFill>
              </a:rPr>
              <a:t>right</a:t>
            </a:r>
            <a:r>
              <a:rPr lang="en">
                <a:solidFill>
                  <a:schemeClr val="dk1"/>
                </a:solidFill>
              </a:rPr>
              <a:t>, we plot the same thing </a:t>
            </a:r>
            <a:r>
              <a:rPr b="1" lang="en">
                <a:solidFill>
                  <a:schemeClr val="dk1"/>
                </a:solidFill>
              </a:rPr>
              <a:t>after filtering</a:t>
            </a:r>
            <a:r>
              <a:rPr lang="en">
                <a:solidFill>
                  <a:schemeClr val="dk1"/>
                </a:solidFill>
              </a:rPr>
              <a:t>: we only keep trips where both pickup and dropoff fall within a reasonable NYC latitude/longitude box. This removes all the global outliers and leaves us with a very clean, dense cloud of NYC trips.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All of the modeling we’ll talk about next uses </a:t>
            </a:r>
            <a:r>
              <a:rPr b="1" lang="en">
                <a:solidFill>
                  <a:schemeClr val="dk1"/>
                </a:solidFill>
              </a:rPr>
              <a:t>only</a:t>
            </a:r>
            <a:r>
              <a:rPr lang="en">
                <a:solidFill>
                  <a:schemeClr val="dk1"/>
                </a:solidFill>
              </a:rPr>
              <a:t> the filtered NYC data.</a:t>
            </a:r>
            <a:endParaRPr>
              <a:solidFill>
                <a:schemeClr val="dk1"/>
              </a:solidFill>
            </a:endParaRPr>
          </a:p>
          <a:p>
            <a:pPr indent="0" lvl="0" marL="0" rtl="0" algn="l">
              <a:spcBef>
                <a:spcPts val="1200"/>
              </a:spcBef>
              <a:spcAft>
                <a:spcPts val="0"/>
              </a:spcAft>
              <a:buNone/>
            </a:pPr>
            <a:r>
              <a:t/>
            </a:r>
            <a:endParaRPr/>
          </a:p>
          <a:p>
            <a:pPr indent="0" lvl="0" marL="0" rtl="0" algn="l">
              <a:spcBef>
                <a:spcPts val="0"/>
              </a:spcBef>
              <a:spcAft>
                <a:spcPts val="0"/>
              </a:spcAft>
              <a:buNone/>
            </a:pPr>
            <a:r>
              <a:rPr lang="en"/>
              <a:t>ERROR WITH DISTANCE: miles is based on straight line, not total street lengths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abc890f39a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abc890f39a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*Jiangyu</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abc890f39a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abc890f39a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THOMAS</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After filtering, we ended up with about </a:t>
            </a:r>
            <a:r>
              <a:rPr b="1" lang="en">
                <a:solidFill>
                  <a:schemeClr val="dk1"/>
                </a:solidFill>
              </a:rPr>
              <a:t>192k valid NYC trips</a:t>
            </a:r>
            <a:r>
              <a:rPr lang="en">
                <a:solidFill>
                  <a:schemeClr val="dk1"/>
                </a:solidFill>
              </a:rPr>
              <a:t>. We applied three main filters:</a:t>
            </a:r>
            <a:endParaRPr>
              <a:solidFill>
                <a:schemeClr val="dk1"/>
              </a:solidFill>
            </a:endParaRPr>
          </a:p>
          <a:p>
            <a:pPr indent="-298450" lvl="0" marL="838200" marR="381000" rtl="0" algn="l">
              <a:lnSpc>
                <a:spcPct val="115000"/>
              </a:lnSpc>
              <a:spcBef>
                <a:spcPts val="1200"/>
              </a:spcBef>
              <a:spcAft>
                <a:spcPts val="0"/>
              </a:spcAft>
              <a:buClr>
                <a:schemeClr val="dk1"/>
              </a:buClr>
              <a:buSzPts val="1100"/>
              <a:buChar char="●"/>
            </a:pPr>
            <a:r>
              <a:rPr lang="en">
                <a:solidFill>
                  <a:schemeClr val="dk1"/>
                </a:solidFill>
              </a:rPr>
              <a:t>Trip distance &gt; 0.1 miles</a:t>
            </a:r>
            <a:br>
              <a:rPr lang="en">
                <a:solidFill>
                  <a:schemeClr val="dk1"/>
                </a:solidFill>
              </a:rPr>
            </a:br>
            <a:endParaRPr>
              <a:solidFill>
                <a:schemeClr val="dk1"/>
              </a:solidFill>
            </a:endParaRPr>
          </a:p>
          <a:p>
            <a:pPr indent="-298450" lvl="0" marL="838200" marR="381000" rtl="0" algn="l">
              <a:lnSpc>
                <a:spcPct val="115000"/>
              </a:lnSpc>
              <a:spcBef>
                <a:spcPts val="0"/>
              </a:spcBef>
              <a:spcAft>
                <a:spcPts val="0"/>
              </a:spcAft>
              <a:buClr>
                <a:schemeClr val="dk1"/>
              </a:buClr>
              <a:buSzPts val="1100"/>
              <a:buChar char="●"/>
            </a:pPr>
            <a:r>
              <a:rPr lang="en">
                <a:solidFill>
                  <a:schemeClr val="dk1"/>
                </a:solidFill>
              </a:rPr>
              <a:t>Fare between $0 and $500</a:t>
            </a:r>
            <a:br>
              <a:rPr lang="en">
                <a:solidFill>
                  <a:schemeClr val="dk1"/>
                </a:solidFill>
              </a:rPr>
            </a:br>
            <a:endParaRPr>
              <a:solidFill>
                <a:schemeClr val="dk1"/>
              </a:solidFill>
            </a:endParaRPr>
          </a:p>
          <a:p>
            <a:pPr indent="-298450" lvl="0" marL="838200" marR="381000" rtl="0" algn="l">
              <a:lnSpc>
                <a:spcPct val="115000"/>
              </a:lnSpc>
              <a:spcBef>
                <a:spcPts val="0"/>
              </a:spcBef>
              <a:spcAft>
                <a:spcPts val="0"/>
              </a:spcAft>
              <a:buClr>
                <a:schemeClr val="dk1"/>
              </a:buClr>
              <a:buSzPts val="1100"/>
              <a:buChar char="●"/>
            </a:pPr>
            <a:r>
              <a:rPr lang="en">
                <a:solidFill>
                  <a:schemeClr val="dk1"/>
                </a:solidFill>
              </a:rPr>
              <a:t>Remove rows with missing key fields (distance, fare, datetime, passenger count)</a:t>
            </a:r>
            <a:br>
              <a:rPr lang="en">
                <a:solidFill>
                  <a:schemeClr val="dk1"/>
                </a:solidFill>
              </a:rPr>
            </a:b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We then did an </a:t>
            </a:r>
            <a:r>
              <a:rPr b="1" lang="en">
                <a:solidFill>
                  <a:schemeClr val="dk1"/>
                </a:solidFill>
              </a:rPr>
              <a:t>80/20 train–test split</a:t>
            </a:r>
            <a:r>
              <a:rPr lang="en">
                <a:solidFill>
                  <a:schemeClr val="dk1"/>
                </a:solidFill>
              </a:rPr>
              <a:t>, stratified on our main classification label.</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For the classification target, we defined:</a:t>
            </a:r>
            <a:endParaRPr>
              <a:solidFill>
                <a:schemeClr val="dk1"/>
              </a:solidFill>
            </a:endParaRPr>
          </a:p>
          <a:p>
            <a:pPr indent="0" lvl="0" marL="381000" marR="381000" rtl="0" algn="l">
              <a:lnSpc>
                <a:spcPct val="115000"/>
              </a:lnSpc>
              <a:spcBef>
                <a:spcPts val="1200"/>
              </a:spcBef>
              <a:spcAft>
                <a:spcPts val="0"/>
              </a:spcAft>
              <a:buNone/>
            </a:pPr>
            <a:r>
              <a:rPr lang="en">
                <a:solidFill>
                  <a:schemeClr val="dk1"/>
                </a:solidFill>
              </a:rPr>
              <a:t>fare_per_mile=fare_amount/trip_distance_mi </a:t>
            </a:r>
            <a:endParaRPr>
              <a:solidFill>
                <a:schemeClr val="dk1"/>
              </a:solidFill>
            </a:endParaRPr>
          </a:p>
          <a:p>
            <a:pPr indent="0" lvl="0" marL="381000" marR="381000" rtl="0" algn="l">
              <a:lnSpc>
                <a:spcPct val="115000"/>
              </a:lnSpc>
              <a:spcBef>
                <a:spcPts val="0"/>
              </a:spcBef>
              <a:spcAft>
                <a:spcPts val="0"/>
              </a:spcAft>
              <a:buNone/>
            </a:pPr>
            <a:r>
              <a:t/>
            </a:r>
            <a:endParaRPr>
              <a:solidFill>
                <a:schemeClr val="dk1"/>
              </a:solidFill>
            </a:endParaRPr>
          </a:p>
          <a:p>
            <a:pPr indent="0" lvl="0" marL="381000" marR="381000" rtl="0" algn="l">
              <a:lnSpc>
                <a:spcPct val="115000"/>
              </a:lnSpc>
              <a:spcBef>
                <a:spcPts val="0"/>
              </a:spcBef>
              <a:spcAft>
                <a:spcPts val="0"/>
              </a:spcAft>
              <a:buClr>
                <a:schemeClr val="dk1"/>
              </a:buClr>
              <a:buSzPts val="1100"/>
              <a:buFont typeface="Arial"/>
              <a:buNone/>
            </a:pPr>
            <a:r>
              <a:rPr lang="en">
                <a:solidFill>
                  <a:schemeClr val="dk1"/>
                </a:solidFill>
              </a:rPr>
              <a:t>and labeled a trip as </a:t>
            </a:r>
            <a:r>
              <a:rPr b="1" lang="en">
                <a:solidFill>
                  <a:schemeClr val="dk1"/>
                </a:solidFill>
              </a:rPr>
              <a:t>“expensive”</a:t>
            </a:r>
            <a:r>
              <a:rPr lang="en">
                <a:solidFill>
                  <a:schemeClr val="dk1"/>
                </a:solidFill>
              </a:rPr>
              <a:t> if its fare per mile was in the </a:t>
            </a:r>
            <a:r>
              <a:rPr b="1" lang="en">
                <a:solidFill>
                  <a:schemeClr val="dk1"/>
                </a:solidFill>
              </a:rPr>
              <a:t>top 25%</a:t>
            </a:r>
            <a:r>
              <a:rPr lang="en">
                <a:solidFill>
                  <a:schemeClr val="dk1"/>
                </a:solidFill>
              </a:rPr>
              <a:t> of all trips. That gives us a binary label that’s meaningful to a user—“is this trip unusually expensive per mile?”—and we also keep the numeric </a:t>
            </a:r>
            <a:r>
              <a:rPr lang="en">
                <a:solidFill>
                  <a:srgbClr val="188038"/>
                </a:solidFill>
                <a:latin typeface="Roboto Mono"/>
                <a:ea typeface="Roboto Mono"/>
                <a:cs typeface="Roboto Mono"/>
                <a:sym typeface="Roboto Mono"/>
              </a:rPr>
              <a:t>fare_per_mile</a:t>
            </a:r>
            <a:r>
              <a:rPr lang="en">
                <a:solidFill>
                  <a:schemeClr val="dk1"/>
                </a:solidFill>
              </a:rPr>
              <a:t> and </a:t>
            </a:r>
            <a:r>
              <a:rPr lang="en">
                <a:solidFill>
                  <a:srgbClr val="188038"/>
                </a:solidFill>
                <a:latin typeface="Roboto Mono"/>
                <a:ea typeface="Roboto Mono"/>
                <a:cs typeface="Roboto Mono"/>
                <a:sym typeface="Roboto Mono"/>
              </a:rPr>
              <a:t>fare_amount</a:t>
            </a:r>
            <a:r>
              <a:rPr lang="en">
                <a:solidFill>
                  <a:schemeClr val="dk1"/>
                </a:solidFill>
              </a:rPr>
              <a:t> for regression.</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Before training the main models, we did </a:t>
            </a:r>
            <a:r>
              <a:rPr b="1" lang="en">
                <a:solidFill>
                  <a:schemeClr val="dk1"/>
                </a:solidFill>
              </a:rPr>
              <a:t>feature selection with LASSO</a:t>
            </a:r>
            <a:r>
              <a:rPr lang="en">
                <a:solidFill>
                  <a:schemeClr val="dk1"/>
                </a:solidFill>
              </a:rPr>
              <a:t>:</a:t>
            </a:r>
            <a:endParaRPr>
              <a:solidFill>
                <a:schemeClr val="dk1"/>
              </a:solidFill>
            </a:endParaRPr>
          </a:p>
          <a:p>
            <a:pPr indent="-298450" lvl="0" marL="838200" marR="381000" rtl="0" algn="l">
              <a:lnSpc>
                <a:spcPct val="115000"/>
              </a:lnSpc>
              <a:spcBef>
                <a:spcPts val="1200"/>
              </a:spcBef>
              <a:spcAft>
                <a:spcPts val="0"/>
              </a:spcAft>
              <a:buClr>
                <a:schemeClr val="dk1"/>
              </a:buClr>
              <a:buSzPts val="1100"/>
              <a:buChar char="●"/>
            </a:pPr>
            <a:r>
              <a:rPr lang="en">
                <a:solidFill>
                  <a:schemeClr val="dk1"/>
                </a:solidFill>
              </a:rPr>
              <a:t>Pipeline: </a:t>
            </a:r>
            <a:r>
              <a:rPr lang="en">
                <a:solidFill>
                  <a:srgbClr val="188038"/>
                </a:solidFill>
                <a:latin typeface="Roboto Mono"/>
                <a:ea typeface="Roboto Mono"/>
                <a:cs typeface="Roboto Mono"/>
                <a:sym typeface="Roboto Mono"/>
              </a:rPr>
              <a:t>StandardScaler</a:t>
            </a:r>
            <a:r>
              <a:rPr lang="en">
                <a:solidFill>
                  <a:schemeClr val="dk1"/>
                </a:solidFill>
              </a:rPr>
              <a:t> plus logistic regression with an L1 penalty, we tried regularization coefficients 0.01, 0.1, 1, 10</a:t>
            </a:r>
            <a:br>
              <a:rPr lang="en">
                <a:solidFill>
                  <a:schemeClr val="dk1"/>
                </a:solidFill>
              </a:rPr>
            </a:br>
            <a:endParaRPr>
              <a:solidFill>
                <a:schemeClr val="dk1"/>
              </a:solidFill>
            </a:endParaRPr>
          </a:p>
          <a:p>
            <a:pPr indent="-298450" lvl="0" marL="838200" marR="381000" rtl="0" algn="l">
              <a:lnSpc>
                <a:spcPct val="115000"/>
              </a:lnSpc>
              <a:spcBef>
                <a:spcPts val="0"/>
              </a:spcBef>
              <a:spcAft>
                <a:spcPts val="0"/>
              </a:spcAft>
              <a:buClr>
                <a:schemeClr val="dk1"/>
              </a:buClr>
              <a:buSzPts val="1100"/>
              <a:buChar char="●"/>
            </a:pPr>
            <a:r>
              <a:rPr lang="en">
                <a:solidFill>
                  <a:schemeClr val="dk1"/>
                </a:solidFill>
              </a:rPr>
              <a:t>Tuned the regularization parameter </a:t>
            </a:r>
            <a:r>
              <a:rPr b="1" lang="en">
                <a:solidFill>
                  <a:schemeClr val="dk1"/>
                </a:solidFill>
              </a:rPr>
              <a:t>C</a:t>
            </a:r>
            <a:r>
              <a:rPr lang="en">
                <a:solidFill>
                  <a:schemeClr val="dk1"/>
                </a:solidFill>
              </a:rPr>
              <a:t> with </a:t>
            </a:r>
            <a:r>
              <a:rPr lang="en">
                <a:solidFill>
                  <a:srgbClr val="188038"/>
                </a:solidFill>
                <a:latin typeface="Roboto Mono"/>
                <a:ea typeface="Roboto Mono"/>
                <a:cs typeface="Roboto Mono"/>
                <a:sym typeface="Roboto Mono"/>
              </a:rPr>
              <a:t>GridSearchCV</a:t>
            </a:r>
            <a:br>
              <a:rPr lang="en">
                <a:solidFill>
                  <a:srgbClr val="188038"/>
                </a:solidFill>
                <a:latin typeface="Roboto Mono"/>
                <a:ea typeface="Roboto Mono"/>
                <a:cs typeface="Roboto Mono"/>
                <a:sym typeface="Roboto Mono"/>
              </a:rPr>
            </a:br>
            <a:endParaRPr>
              <a:solidFill>
                <a:srgbClr val="188038"/>
              </a:solidFill>
              <a:latin typeface="Roboto Mono"/>
              <a:ea typeface="Roboto Mono"/>
              <a:cs typeface="Roboto Mono"/>
              <a:sym typeface="Roboto Mono"/>
            </a:endParaRPr>
          </a:p>
          <a:p>
            <a:pPr indent="-298450" lvl="0" marL="838200" marR="381000" rtl="0" algn="l">
              <a:lnSpc>
                <a:spcPct val="115000"/>
              </a:lnSpc>
              <a:spcBef>
                <a:spcPts val="0"/>
              </a:spcBef>
              <a:spcAft>
                <a:spcPts val="0"/>
              </a:spcAft>
              <a:buClr>
                <a:schemeClr val="dk1"/>
              </a:buClr>
              <a:buSzPts val="1100"/>
              <a:buChar char="●"/>
            </a:pPr>
            <a:r>
              <a:rPr lang="en">
                <a:solidFill>
                  <a:schemeClr val="dk1"/>
                </a:solidFill>
              </a:rPr>
              <a:t>Used </a:t>
            </a:r>
            <a:r>
              <a:rPr b="1" lang="en">
                <a:solidFill>
                  <a:schemeClr val="dk1"/>
                </a:solidFill>
              </a:rPr>
              <a:t>5-fold cross-validation</a:t>
            </a:r>
            <a:r>
              <a:rPr lang="en">
                <a:solidFill>
                  <a:schemeClr val="dk1"/>
                </a:solidFill>
              </a:rPr>
              <a:t>, scoring with </a:t>
            </a:r>
            <a:r>
              <a:rPr b="1" lang="en">
                <a:solidFill>
                  <a:schemeClr val="dk1"/>
                </a:solidFill>
              </a:rPr>
              <a:t>ROC-AUC</a:t>
            </a:r>
            <a:br>
              <a:rPr b="1" lang="en">
                <a:solidFill>
                  <a:schemeClr val="dk1"/>
                </a:solidFill>
              </a:rPr>
            </a:br>
            <a:endParaRPr b="1">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This identified a set of about </a:t>
            </a:r>
            <a:r>
              <a:rPr b="1" lang="en">
                <a:solidFill>
                  <a:schemeClr val="dk1"/>
                </a:solidFill>
              </a:rPr>
              <a:t>18 features</a:t>
            </a:r>
            <a:r>
              <a:rPr lang="en">
                <a:solidFill>
                  <a:schemeClr val="dk1"/>
                </a:solidFill>
              </a:rPr>
              <a:t> with non-zero coefficients—things like distance, time-of-day bins, year, and airport indicators. We used that reduced feature set in all downstream models.</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For the </a:t>
            </a:r>
            <a:r>
              <a:rPr b="1" lang="en">
                <a:solidFill>
                  <a:schemeClr val="dk1"/>
                </a:solidFill>
              </a:rPr>
              <a:t>classification</a:t>
            </a:r>
            <a:r>
              <a:rPr lang="en">
                <a:solidFill>
                  <a:schemeClr val="dk1"/>
                </a:solidFill>
              </a:rPr>
              <a:t> task (“expensive” vs not), we trained:</a:t>
            </a:r>
            <a:endParaRPr>
              <a:solidFill>
                <a:schemeClr val="dk1"/>
              </a:solidFill>
            </a:endParaRPr>
          </a:p>
          <a:p>
            <a:pPr indent="-298450" lvl="0" marL="838200" marR="381000" rtl="0" algn="l">
              <a:lnSpc>
                <a:spcPct val="115000"/>
              </a:lnSpc>
              <a:spcBef>
                <a:spcPts val="1200"/>
              </a:spcBef>
              <a:spcAft>
                <a:spcPts val="0"/>
              </a:spcAft>
              <a:buClr>
                <a:schemeClr val="dk1"/>
              </a:buClr>
              <a:buSzPts val="1100"/>
              <a:buChar char="●"/>
            </a:pPr>
            <a:r>
              <a:rPr b="1" lang="en">
                <a:solidFill>
                  <a:schemeClr val="dk1"/>
                </a:solidFill>
              </a:rPr>
              <a:t>Logistic Regression</a:t>
            </a:r>
            <a:r>
              <a:rPr lang="en">
                <a:solidFill>
                  <a:schemeClr val="dk1"/>
                </a:solidFill>
              </a:rPr>
              <a:t> as a baseline,</a:t>
            </a:r>
            <a:br>
              <a:rPr lang="en">
                <a:solidFill>
                  <a:schemeClr val="dk1"/>
                </a:solidFill>
              </a:rPr>
            </a:br>
            <a:endParaRPr>
              <a:solidFill>
                <a:schemeClr val="dk1"/>
              </a:solidFill>
            </a:endParaRPr>
          </a:p>
          <a:p>
            <a:pPr indent="-298450" lvl="0" marL="838200" marR="381000" rtl="0" algn="l">
              <a:lnSpc>
                <a:spcPct val="115000"/>
              </a:lnSpc>
              <a:spcBef>
                <a:spcPts val="0"/>
              </a:spcBef>
              <a:spcAft>
                <a:spcPts val="0"/>
              </a:spcAft>
              <a:buClr>
                <a:schemeClr val="dk1"/>
              </a:buClr>
              <a:buSzPts val="1100"/>
              <a:buChar char="●"/>
            </a:pPr>
            <a:r>
              <a:rPr lang="en">
                <a:solidFill>
                  <a:schemeClr val="dk1"/>
                </a:solidFill>
              </a:rPr>
              <a:t>a </a:t>
            </a:r>
            <a:r>
              <a:rPr b="1" lang="en">
                <a:solidFill>
                  <a:schemeClr val="dk1"/>
                </a:solidFill>
              </a:rPr>
              <a:t>Random Forest</a:t>
            </a:r>
            <a:r>
              <a:rPr lang="en">
                <a:solidFill>
                  <a:schemeClr val="dk1"/>
                </a:solidFill>
              </a:rPr>
              <a:t> classifier with </a:t>
            </a:r>
            <a:r>
              <a:rPr lang="en">
                <a:solidFill>
                  <a:srgbClr val="188038"/>
                </a:solidFill>
                <a:latin typeface="Roboto Mono"/>
                <a:ea typeface="Roboto Mono"/>
                <a:cs typeface="Roboto Mono"/>
                <a:sym typeface="Roboto Mono"/>
              </a:rPr>
              <a:t>n_estimators</a:t>
            </a:r>
            <a:r>
              <a:rPr lang="en">
                <a:solidFill>
                  <a:schemeClr val="dk1"/>
                </a:solidFill>
              </a:rPr>
              <a:t> in {100, 200} and </a:t>
            </a:r>
            <a:r>
              <a:rPr lang="en">
                <a:solidFill>
                  <a:srgbClr val="188038"/>
                </a:solidFill>
                <a:latin typeface="Roboto Mono"/>
                <a:ea typeface="Roboto Mono"/>
                <a:cs typeface="Roboto Mono"/>
                <a:sym typeface="Roboto Mono"/>
              </a:rPr>
              <a:t>max_depth</a:t>
            </a:r>
            <a:r>
              <a:rPr lang="en">
                <a:solidFill>
                  <a:schemeClr val="dk1"/>
                </a:solidFill>
              </a:rPr>
              <a:t> in {None, 20}, using 3-fold CV, and</a:t>
            </a:r>
            <a:br>
              <a:rPr lang="en">
                <a:solidFill>
                  <a:schemeClr val="dk1"/>
                </a:solidFill>
              </a:rPr>
            </a:br>
            <a:endParaRPr>
              <a:solidFill>
                <a:schemeClr val="dk1"/>
              </a:solidFill>
            </a:endParaRPr>
          </a:p>
          <a:p>
            <a:pPr indent="-298450" lvl="0" marL="838200" marR="381000" rtl="0" algn="l">
              <a:lnSpc>
                <a:spcPct val="115000"/>
              </a:lnSpc>
              <a:spcBef>
                <a:spcPts val="0"/>
              </a:spcBef>
              <a:spcAft>
                <a:spcPts val="0"/>
              </a:spcAft>
              <a:buClr>
                <a:schemeClr val="dk1"/>
              </a:buClr>
              <a:buSzPts val="1100"/>
              <a:buChar char="●"/>
            </a:pPr>
            <a:r>
              <a:rPr lang="en">
                <a:solidFill>
                  <a:schemeClr val="dk1"/>
                </a:solidFill>
              </a:rPr>
              <a:t>a </a:t>
            </a:r>
            <a:r>
              <a:rPr b="1" lang="en">
                <a:solidFill>
                  <a:schemeClr val="dk1"/>
                </a:solidFill>
              </a:rPr>
              <a:t>Neural Network (MLPClassifier)</a:t>
            </a:r>
            <a:r>
              <a:rPr lang="en">
                <a:solidFill>
                  <a:schemeClr val="dk1"/>
                </a:solidFill>
              </a:rPr>
              <a:t> with hidden layers </a:t>
            </a:r>
            <a:r>
              <a:rPr lang="en">
                <a:solidFill>
                  <a:srgbClr val="188038"/>
                </a:solidFill>
                <a:latin typeface="Roboto Mono"/>
                <a:ea typeface="Roboto Mono"/>
                <a:cs typeface="Roboto Mono"/>
                <a:sym typeface="Roboto Mono"/>
              </a:rPr>
              <a:t>(64, 32)</a:t>
            </a:r>
            <a:r>
              <a:rPr lang="en">
                <a:solidFill>
                  <a:schemeClr val="dk1"/>
                </a:solidFill>
              </a:rPr>
              <a:t> (the latter won) and </a:t>
            </a:r>
            <a:r>
              <a:rPr lang="en">
                <a:solidFill>
                  <a:srgbClr val="188038"/>
                </a:solidFill>
                <a:latin typeface="Roboto Mono"/>
                <a:ea typeface="Roboto Mono"/>
                <a:cs typeface="Roboto Mono"/>
                <a:sym typeface="Roboto Mono"/>
              </a:rPr>
              <a:t>alpha</a:t>
            </a:r>
            <a:r>
              <a:rPr lang="en">
                <a:solidFill>
                  <a:schemeClr val="dk1"/>
                </a:solidFill>
              </a:rPr>
              <a:t> in {1e-4, 1e-3}, again tuned with 3-fold CV and ROC-AUC.</a:t>
            </a:r>
            <a:br>
              <a:rPr lang="en">
                <a:solidFill>
                  <a:schemeClr val="dk1"/>
                </a:solidFill>
              </a:rPr>
            </a:b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The </a:t>
            </a:r>
            <a:r>
              <a:rPr b="1" lang="en">
                <a:solidFill>
                  <a:schemeClr val="dk1"/>
                </a:solidFill>
              </a:rPr>
              <a:t>best performance</a:t>
            </a:r>
            <a:r>
              <a:rPr lang="en">
                <a:solidFill>
                  <a:schemeClr val="dk1"/>
                </a:solidFill>
              </a:rPr>
              <a:t> on the held-out test set came from an </a:t>
            </a:r>
            <a:r>
              <a:rPr b="1" lang="en">
                <a:solidFill>
                  <a:schemeClr val="dk1"/>
                </a:solidFill>
              </a:rPr>
              <a:t>ensemble</a:t>
            </a:r>
            <a:r>
              <a:rPr lang="en">
                <a:solidFill>
                  <a:schemeClr val="dk1"/>
                </a:solidFill>
              </a:rPr>
              <a:t> that takes the average of the RF and NN predicted probabilities. That ensemble slightly improves ROC-AUC and accuracy over either model alone.</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For the </a:t>
            </a:r>
            <a:r>
              <a:rPr b="1" lang="en">
                <a:solidFill>
                  <a:schemeClr val="dk1"/>
                </a:solidFill>
              </a:rPr>
              <a:t>regression</a:t>
            </a:r>
            <a:r>
              <a:rPr lang="en">
                <a:solidFill>
                  <a:schemeClr val="dk1"/>
                </a:solidFill>
              </a:rPr>
              <a:t> tasks—predicting total fare and fare-per-mile—we tried:</a:t>
            </a:r>
            <a:endParaRPr>
              <a:solidFill>
                <a:schemeClr val="dk1"/>
              </a:solidFill>
            </a:endParaRPr>
          </a:p>
          <a:p>
            <a:pPr indent="-298450" lvl="0" marL="838200" marR="381000" rtl="0" algn="l">
              <a:lnSpc>
                <a:spcPct val="115000"/>
              </a:lnSpc>
              <a:spcBef>
                <a:spcPts val="1200"/>
              </a:spcBef>
              <a:spcAft>
                <a:spcPts val="0"/>
              </a:spcAft>
              <a:buClr>
                <a:schemeClr val="dk1"/>
              </a:buClr>
              <a:buSzPts val="1100"/>
              <a:buChar char="●"/>
            </a:pPr>
            <a:r>
              <a:rPr b="1" lang="en">
                <a:solidFill>
                  <a:schemeClr val="dk1"/>
                </a:solidFill>
              </a:rPr>
              <a:t>Random Forest Regressor</a:t>
            </a:r>
            <a:br>
              <a:rPr lang="en">
                <a:solidFill>
                  <a:schemeClr val="dk1"/>
                </a:solidFill>
              </a:rPr>
            </a:b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We evaluated them using </a:t>
            </a:r>
            <a:r>
              <a:rPr b="1" lang="en">
                <a:solidFill>
                  <a:schemeClr val="dk1"/>
                </a:solidFill>
              </a:rPr>
              <a:t>MAE</a:t>
            </a:r>
            <a:r>
              <a:rPr lang="en">
                <a:solidFill>
                  <a:schemeClr val="dk1"/>
                </a:solidFill>
              </a:rPr>
              <a:t>, </a:t>
            </a:r>
            <a:r>
              <a:rPr b="1" lang="en">
                <a:solidFill>
                  <a:schemeClr val="dk1"/>
                </a:solidFill>
              </a:rPr>
              <a:t>RMSE</a:t>
            </a:r>
            <a:r>
              <a:rPr lang="en">
                <a:solidFill>
                  <a:schemeClr val="dk1"/>
                </a:solidFill>
              </a:rPr>
              <a:t>, and especially </a:t>
            </a:r>
            <a:r>
              <a:rPr b="1" lang="en">
                <a:solidFill>
                  <a:schemeClr val="dk1"/>
                </a:solidFill>
              </a:rPr>
              <a:t>normalized MAE</a:t>
            </a:r>
            <a:r>
              <a:rPr lang="en">
                <a:solidFill>
                  <a:schemeClr val="dk1"/>
                </a:solidFill>
              </a:rPr>
              <a:t>, which is MAE divided by the mean of the target. Normalized MAE is helpful here because fares and fare-per-mile have different scales and fairly high variance.</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We found that the </a:t>
            </a:r>
            <a:r>
              <a:rPr b="1" lang="en">
                <a:solidFill>
                  <a:schemeClr val="dk1"/>
                </a:solidFill>
              </a:rPr>
              <a:t>Random Forest Regressor</a:t>
            </a:r>
            <a:r>
              <a:rPr lang="en">
                <a:solidFill>
                  <a:schemeClr val="dk1"/>
                </a:solidFill>
              </a:rPr>
              <a:t> consistently had the </a:t>
            </a:r>
            <a:r>
              <a:rPr b="1" lang="en">
                <a:solidFill>
                  <a:schemeClr val="dk1"/>
                </a:solidFill>
              </a:rPr>
              <a:t>lowest normalized MAE</a:t>
            </a:r>
            <a:r>
              <a:rPr lang="en">
                <a:solidFill>
                  <a:schemeClr val="dk1"/>
                </a:solidFill>
              </a:rPr>
              <a:t> for both total fare and fare-per-mile, and simple ensembles with the other regressors actually made performance slightly worse. So in our final system, we use:</a:t>
            </a:r>
            <a:endParaRPr>
              <a:solidFill>
                <a:schemeClr val="dk1"/>
              </a:solidFill>
            </a:endParaRPr>
          </a:p>
          <a:p>
            <a:pPr indent="-298450" lvl="0" marL="838200" marR="381000" rtl="0" algn="l">
              <a:lnSpc>
                <a:spcPct val="115000"/>
              </a:lnSpc>
              <a:spcBef>
                <a:spcPts val="1200"/>
              </a:spcBef>
              <a:spcAft>
                <a:spcPts val="0"/>
              </a:spcAft>
              <a:buClr>
                <a:schemeClr val="dk1"/>
              </a:buClr>
              <a:buSzPts val="1100"/>
              <a:buChar char="●"/>
            </a:pPr>
            <a:r>
              <a:rPr b="1" lang="en">
                <a:solidFill>
                  <a:schemeClr val="dk1"/>
                </a:solidFill>
              </a:rPr>
              <a:t>RF+NN ensemble</a:t>
            </a:r>
            <a:r>
              <a:rPr lang="en">
                <a:solidFill>
                  <a:schemeClr val="dk1"/>
                </a:solidFill>
              </a:rPr>
              <a:t> for the classification “is expensive?” prediction, and</a:t>
            </a:r>
            <a:br>
              <a:rPr lang="en">
                <a:solidFill>
                  <a:schemeClr val="dk1"/>
                </a:solidFill>
              </a:rPr>
            </a:br>
            <a:endParaRPr>
              <a:solidFill>
                <a:schemeClr val="dk1"/>
              </a:solidFill>
            </a:endParaRPr>
          </a:p>
          <a:p>
            <a:pPr indent="-298450" lvl="0" marL="838200" marR="381000" rtl="0" algn="l">
              <a:lnSpc>
                <a:spcPct val="115000"/>
              </a:lnSpc>
              <a:spcBef>
                <a:spcPts val="0"/>
              </a:spcBef>
              <a:spcAft>
                <a:spcPts val="0"/>
              </a:spcAft>
              <a:buClr>
                <a:schemeClr val="dk1"/>
              </a:buClr>
              <a:buSzPts val="1100"/>
              <a:buChar char="●"/>
            </a:pPr>
            <a:r>
              <a:rPr b="1" lang="en">
                <a:solidFill>
                  <a:schemeClr val="dk1"/>
                </a:solidFill>
              </a:rPr>
              <a:t>Random Forest Regressor</a:t>
            </a:r>
            <a:r>
              <a:rPr lang="en">
                <a:solidFill>
                  <a:schemeClr val="dk1"/>
                </a:solidFill>
              </a:rPr>
              <a:t> for both of the numeric predictions.</a:t>
            </a:r>
            <a:br>
              <a:rPr lang="en">
                <a:solidFill>
                  <a:schemeClr val="dk1"/>
                </a:solidFill>
              </a:rPr>
            </a:br>
            <a:endParaRPr>
              <a:solidFill>
                <a:schemeClr val="dk1"/>
              </a:solidFill>
            </a:endParaRPr>
          </a:p>
          <a:p>
            <a:pPr indent="0" lvl="0" marL="457200" marR="381000" rtl="0" algn="l">
              <a:lnSpc>
                <a:spcPct val="115000"/>
              </a:lnSpc>
              <a:spcBef>
                <a:spcPts val="1200"/>
              </a:spcBef>
              <a:spcAft>
                <a:spcPts val="0"/>
              </a:spcAft>
              <a:buNone/>
            </a:pPr>
            <a:r>
              <a:rPr lang="en">
                <a:solidFill>
                  <a:schemeClr val="dk1"/>
                </a:solidFill>
              </a:rPr>
              <a:t>We also tried using various forms of gradient boosting, as well as linear regression to predict these numerical targets. Linear regression performed particularly poorly using the nMSE metric, whereas gradient boosting </a:t>
            </a:r>
            <a:r>
              <a:rPr lang="en">
                <a:solidFill>
                  <a:schemeClr val="dk1"/>
                </a:solidFill>
              </a:rPr>
              <a:t>performed</a:t>
            </a:r>
            <a:r>
              <a:rPr lang="en">
                <a:solidFill>
                  <a:schemeClr val="dk1"/>
                </a:solidFill>
              </a:rPr>
              <a:t> decently, but did not meaningfully impact the ensemble’s </a:t>
            </a:r>
            <a:r>
              <a:rPr lang="en">
                <a:solidFill>
                  <a:schemeClr val="dk1"/>
                </a:solidFill>
              </a:rPr>
              <a:t>performance</a:t>
            </a:r>
            <a:r>
              <a:rPr lang="en">
                <a:solidFill>
                  <a:schemeClr val="dk1"/>
                </a:solidFill>
              </a:rPr>
              <a:t> when added in.</a:t>
            </a:r>
            <a:endParaRPr>
              <a:solidFill>
                <a:schemeClr val="dk1"/>
              </a:solidFill>
            </a:endParaRPr>
          </a:p>
          <a:p>
            <a:pPr indent="0" lvl="0" marL="0" rtl="0" algn="l">
              <a:lnSpc>
                <a:spcPct val="115000"/>
              </a:lnSpc>
              <a:spcBef>
                <a:spcPts val="1200"/>
              </a:spcBef>
              <a:spcAft>
                <a:spcPts val="1200"/>
              </a:spcAft>
              <a:buNone/>
            </a:pPr>
            <a:r>
              <a:t/>
            </a:r>
            <a:endParaRPr sz="1200">
              <a:solidFill>
                <a:schemeClr val="dk1"/>
              </a:solidFill>
              <a:latin typeface="Old Standard TT"/>
              <a:ea typeface="Old Standard TT"/>
              <a:cs typeface="Old Standard TT"/>
              <a:sym typeface="Old Standard TT"/>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abc890f39a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abc890f39a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Vivienne</a:t>
            </a:r>
            <a:endParaRPr/>
          </a:p>
          <a:p>
            <a:pPr indent="0" lvl="0" marL="0" rtl="0" algn="l">
              <a:lnSpc>
                <a:spcPct val="115000"/>
              </a:lnSpc>
              <a:spcBef>
                <a:spcPts val="1200"/>
              </a:spcBef>
              <a:spcAft>
                <a:spcPts val="0"/>
              </a:spcAft>
              <a:buClr>
                <a:schemeClr val="dk1"/>
              </a:buClr>
              <a:buSzPts val="1100"/>
              <a:buFont typeface="Arial"/>
              <a:buNone/>
            </a:pPr>
            <a:r>
              <a:rPr lang="en"/>
              <a:t>After filtering invalid or out-of-range trips, our final dataset contains about 195,800 rides.</a:t>
            </a:r>
            <a:endParaRPr/>
          </a:p>
          <a:p>
            <a:pPr indent="0" lvl="0" marL="0" rtl="0" algn="l">
              <a:lnSpc>
                <a:spcPct val="115000"/>
              </a:lnSpc>
              <a:spcBef>
                <a:spcPts val="1200"/>
              </a:spcBef>
              <a:spcAft>
                <a:spcPts val="0"/>
              </a:spcAft>
              <a:buClr>
                <a:schemeClr val="dk1"/>
              </a:buClr>
              <a:buSzPts val="1100"/>
              <a:buFont typeface="Arial"/>
              <a:buNone/>
            </a:pPr>
            <a:r>
              <a:rPr lang="en"/>
              <a:t>We define a trip as expensive if its fare per mile is higher than $8.06.</a:t>
            </a:r>
            <a:endParaRPr/>
          </a:p>
          <a:p>
            <a:pPr indent="0" lvl="0" marL="0" rtl="0" algn="l">
              <a:lnSpc>
                <a:spcPct val="115000"/>
              </a:lnSpc>
              <a:spcBef>
                <a:spcPts val="1200"/>
              </a:spcBef>
              <a:spcAft>
                <a:spcPts val="0"/>
              </a:spcAft>
              <a:buClr>
                <a:schemeClr val="dk1"/>
              </a:buClr>
              <a:buSzPts val="1100"/>
              <a:buFont typeface="Arial"/>
              <a:buNone/>
            </a:pPr>
            <a:r>
              <a:rPr lang="en"/>
              <a:t>This gives us a class balance of around 144,000 non-expensive trips and about 48,000 expensive trips.</a:t>
            </a:r>
            <a:endParaRPr/>
          </a:p>
          <a:p>
            <a:pPr indent="0" lvl="0" marL="0" rtl="0" algn="l">
              <a:lnSpc>
                <a:spcPct val="115000"/>
              </a:lnSpc>
              <a:spcBef>
                <a:spcPts val="1200"/>
              </a:spcBef>
              <a:spcAft>
                <a:spcPts val="0"/>
              </a:spcAft>
              <a:buClr>
                <a:schemeClr val="dk1"/>
              </a:buClr>
              <a:buSzPts val="1100"/>
              <a:buFont typeface="Arial"/>
              <a:buNone/>
            </a:pPr>
            <a:r>
              <a:rPr lang="en"/>
              <a:t>For classification, Random Forest achieved an AUC of 0.9337, and the Neural Network achieved 0.9368.</a:t>
            </a:r>
            <a:endParaRPr/>
          </a:p>
          <a:p>
            <a:pPr indent="0" lvl="0" marL="0" rtl="0" algn="l">
              <a:lnSpc>
                <a:spcPct val="115000"/>
              </a:lnSpc>
              <a:spcBef>
                <a:spcPts val="1200"/>
              </a:spcBef>
              <a:spcAft>
                <a:spcPts val="0"/>
              </a:spcAft>
              <a:buClr>
                <a:schemeClr val="dk1"/>
              </a:buClr>
              <a:buSzPts val="1100"/>
              <a:buFont typeface="Arial"/>
              <a:buNone/>
            </a:pPr>
            <a:r>
              <a:rPr lang="en"/>
              <a:t>When we combine both models into an ensemble, we get the best performance with an AUC of 0.9378.</a:t>
            </a:r>
            <a:endParaRPr/>
          </a:p>
          <a:p>
            <a:pPr indent="0" lvl="0" marL="0" rtl="0" algn="l">
              <a:lnSpc>
                <a:spcPct val="115000"/>
              </a:lnSpc>
              <a:spcBef>
                <a:spcPts val="1200"/>
              </a:spcBef>
              <a:spcAft>
                <a:spcPts val="1200"/>
              </a:spcAft>
              <a:buNone/>
            </a:pPr>
            <a:r>
              <a:rPr lang="en"/>
              <a:t>Overall, the model reaches about 0.89 accuracy and a weighted F1 of 0.88, which shows strong predictive performance even with class imbalance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91325058eb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91325058eb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Vivienne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acf3866cab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acf3866cab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Rahul</a:t>
            </a:r>
            <a:endParaRPr/>
          </a:p>
          <a:p>
            <a:pPr indent="0" lvl="0" marL="0" rtl="0" algn="l">
              <a:spcBef>
                <a:spcPts val="0"/>
              </a:spcBef>
              <a:spcAft>
                <a:spcPts val="0"/>
              </a:spcAft>
              <a:buNone/>
            </a:pPr>
            <a:r>
              <a:rPr lang="en"/>
              <a:t>lack of </a:t>
            </a:r>
            <a:r>
              <a:rPr lang="en"/>
              <a:t>recent </a:t>
            </a:r>
            <a:r>
              <a:rPr lang="en"/>
              <a:t>data - early 2010s / early uber… / </a:t>
            </a:r>
            <a:r>
              <a:rPr lang="en">
                <a:solidFill>
                  <a:schemeClr val="dk1"/>
                </a:solidFill>
              </a:rPr>
              <a:t>Linear model is not a good fit - not a linear trend</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abc890f39a_0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abc890f39a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Rahul</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91325058eb_3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91325058eb_3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Rahul</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acf3866cab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acf3866cab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 name="Google Shape;11;p2"/>
          <p:cNvCxnSpPr/>
          <p:nvPr/>
        </p:nvCxnSpPr>
        <p:spPr>
          <a:xfrm>
            <a:off x="641934" y="3597500"/>
            <a:ext cx="390300" cy="0"/>
          </a:xfrm>
          <a:prstGeom prst="straightConnector1">
            <a:avLst/>
          </a:prstGeom>
          <a:noFill/>
          <a:ln cap="flat" cmpd="sng" w="28575">
            <a:solidFill>
              <a:schemeClr val="accent1"/>
            </a:solidFill>
            <a:prstDash val="solid"/>
            <a:round/>
            <a:headEnd len="sm" w="sm" type="none"/>
            <a:tailEnd len="sm" w="sm" type="none"/>
          </a:ln>
        </p:spPr>
      </p:cxnSp>
      <p:sp>
        <p:nvSpPr>
          <p:cNvPr id="12" name="Google Shape;12;p2"/>
          <p:cNvSpPr txBox="1"/>
          <p:nvPr>
            <p:ph type="ctrTitle"/>
          </p:nvPr>
        </p:nvSpPr>
        <p:spPr>
          <a:xfrm>
            <a:off x="512700" y="1893300"/>
            <a:ext cx="8118600" cy="1522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accent1"/>
              </a:buClr>
              <a:buSzPts val="4200"/>
              <a:buNone/>
              <a:defRPr sz="4200">
                <a:solidFill>
                  <a:schemeClr val="accent1"/>
                </a:solidFill>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p:txBody>
      </p:sp>
      <p:sp>
        <p:nvSpPr>
          <p:cNvPr id="13" name="Google Shape;13;p2"/>
          <p:cNvSpPr txBox="1"/>
          <p:nvPr>
            <p:ph idx="1" type="subTitle"/>
          </p:nvPr>
        </p:nvSpPr>
        <p:spPr>
          <a:xfrm>
            <a:off x="512700" y="3840639"/>
            <a:ext cx="8118600" cy="7875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2400"/>
              <a:buNone/>
              <a:defRPr sz="2400">
                <a:solidFill>
                  <a:schemeClr val="accent2"/>
                </a:solidFill>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5" name="Shape 15"/>
        <p:cNvGrpSpPr/>
        <p:nvPr/>
      </p:nvGrpSpPr>
      <p:grpSpPr>
        <a:xfrm>
          <a:off x="0" y="0"/>
          <a:ext cx="0" cy="0"/>
          <a:chOff x="0" y="0"/>
          <a:chExt cx="0" cy="0"/>
        </a:xfrm>
      </p:grpSpPr>
      <p:cxnSp>
        <p:nvCxnSpPr>
          <p:cNvPr id="16" name="Google Shape;16;p3"/>
          <p:cNvCxnSpPr/>
          <p:nvPr/>
        </p:nvCxnSpPr>
        <p:spPr>
          <a:xfrm>
            <a:off x="641934" y="3597500"/>
            <a:ext cx="390300" cy="0"/>
          </a:xfrm>
          <a:prstGeom prst="straightConnector1">
            <a:avLst/>
          </a:prstGeom>
          <a:noFill/>
          <a:ln cap="flat" cmpd="sng" w="28575">
            <a:solidFill>
              <a:schemeClr val="lt2"/>
            </a:solidFill>
            <a:prstDash val="solid"/>
            <a:round/>
            <a:headEnd len="sm" w="sm" type="none"/>
            <a:tailEnd len="sm" w="sm" type="none"/>
          </a:ln>
        </p:spPr>
      </p:cxnSp>
      <p:sp>
        <p:nvSpPr>
          <p:cNvPr id="17" name="Google Shape;17;p3"/>
          <p:cNvSpPr txBox="1"/>
          <p:nvPr>
            <p:ph type="title"/>
          </p:nvPr>
        </p:nvSpPr>
        <p:spPr>
          <a:xfrm>
            <a:off x="512700" y="1893300"/>
            <a:ext cx="8118600" cy="1522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accent1"/>
              </a:buClr>
              <a:buSzPts val="6000"/>
              <a:buNone/>
              <a:defRPr sz="6000">
                <a:solidFill>
                  <a:schemeClr val="accent1"/>
                </a:solidFill>
              </a:defRPr>
            </a:lvl1pPr>
            <a:lvl2pPr lvl="1">
              <a:spcBef>
                <a:spcPts val="0"/>
              </a:spcBef>
              <a:spcAft>
                <a:spcPts val="0"/>
              </a:spcAft>
              <a:buClr>
                <a:schemeClr val="accent1"/>
              </a:buClr>
              <a:buSzPts val="6000"/>
              <a:buNone/>
              <a:defRPr sz="6000">
                <a:solidFill>
                  <a:schemeClr val="accent1"/>
                </a:solidFill>
              </a:defRPr>
            </a:lvl2pPr>
            <a:lvl3pPr lvl="2">
              <a:spcBef>
                <a:spcPts val="0"/>
              </a:spcBef>
              <a:spcAft>
                <a:spcPts val="0"/>
              </a:spcAft>
              <a:buClr>
                <a:schemeClr val="accent1"/>
              </a:buClr>
              <a:buSzPts val="6000"/>
              <a:buNone/>
              <a:defRPr sz="6000">
                <a:solidFill>
                  <a:schemeClr val="accent1"/>
                </a:solidFill>
              </a:defRPr>
            </a:lvl3pPr>
            <a:lvl4pPr lvl="3">
              <a:spcBef>
                <a:spcPts val="0"/>
              </a:spcBef>
              <a:spcAft>
                <a:spcPts val="0"/>
              </a:spcAft>
              <a:buClr>
                <a:schemeClr val="accent1"/>
              </a:buClr>
              <a:buSzPts val="6000"/>
              <a:buNone/>
              <a:defRPr sz="6000">
                <a:solidFill>
                  <a:schemeClr val="accent1"/>
                </a:solidFill>
              </a:defRPr>
            </a:lvl4pPr>
            <a:lvl5pPr lvl="4">
              <a:spcBef>
                <a:spcPts val="0"/>
              </a:spcBef>
              <a:spcAft>
                <a:spcPts val="0"/>
              </a:spcAft>
              <a:buClr>
                <a:schemeClr val="accent1"/>
              </a:buClr>
              <a:buSzPts val="6000"/>
              <a:buNone/>
              <a:defRPr sz="6000">
                <a:solidFill>
                  <a:schemeClr val="accent1"/>
                </a:solidFill>
              </a:defRPr>
            </a:lvl5pPr>
            <a:lvl6pPr lvl="5">
              <a:spcBef>
                <a:spcPts val="0"/>
              </a:spcBef>
              <a:spcAft>
                <a:spcPts val="0"/>
              </a:spcAft>
              <a:buClr>
                <a:schemeClr val="accent1"/>
              </a:buClr>
              <a:buSzPts val="6000"/>
              <a:buNone/>
              <a:defRPr sz="6000">
                <a:solidFill>
                  <a:schemeClr val="accent1"/>
                </a:solidFill>
              </a:defRPr>
            </a:lvl6pPr>
            <a:lvl7pPr lvl="6">
              <a:spcBef>
                <a:spcPts val="0"/>
              </a:spcBef>
              <a:spcAft>
                <a:spcPts val="0"/>
              </a:spcAft>
              <a:buClr>
                <a:schemeClr val="accent1"/>
              </a:buClr>
              <a:buSzPts val="6000"/>
              <a:buNone/>
              <a:defRPr sz="6000">
                <a:solidFill>
                  <a:schemeClr val="accent1"/>
                </a:solidFill>
              </a:defRPr>
            </a:lvl7pPr>
            <a:lvl8pPr lvl="7">
              <a:spcBef>
                <a:spcPts val="0"/>
              </a:spcBef>
              <a:spcAft>
                <a:spcPts val="0"/>
              </a:spcAft>
              <a:buClr>
                <a:schemeClr val="accent1"/>
              </a:buClr>
              <a:buSzPts val="6000"/>
              <a:buNone/>
              <a:defRPr sz="6000">
                <a:solidFill>
                  <a:schemeClr val="accent1"/>
                </a:solidFill>
              </a:defRPr>
            </a:lvl8pPr>
            <a:lvl9pPr lvl="8">
              <a:spcBef>
                <a:spcPts val="0"/>
              </a:spcBef>
              <a:spcAft>
                <a:spcPts val="0"/>
              </a:spcAft>
              <a:buClr>
                <a:schemeClr val="accent1"/>
              </a:buClr>
              <a:buSzPts val="6000"/>
              <a:buNone/>
              <a:defRPr sz="6000">
                <a:solidFill>
                  <a:schemeClr val="accen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71675"/>
            <a:ext cx="3999900" cy="3397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71675"/>
            <a:ext cx="3999900" cy="3397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56040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accent1"/>
              </a:buClr>
              <a:buSzPts val="5400"/>
              <a:buNone/>
              <a:defRPr sz="5400">
                <a:solidFill>
                  <a:schemeClr val="accent1"/>
                </a:solidFill>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p:txBody>
      </p:sp>
      <p:sp>
        <p:nvSpPr>
          <p:cNvPr id="38" name="Google Shape;38;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686400" cy="0"/>
          </a:xfrm>
          <a:prstGeom prst="straightConnector1">
            <a:avLst/>
          </a:prstGeom>
          <a:noFill/>
          <a:ln cap="flat" cmpd="sng" w="19050">
            <a:solidFill>
              <a:schemeClr val="lt2"/>
            </a:solidFill>
            <a:prstDash val="solid"/>
            <a:round/>
            <a:headEnd len="sm" w="sm" type="none"/>
            <a:tailEnd len="sm" w="sm" type="none"/>
          </a:ln>
        </p:spPr>
      </p:cxnSp>
      <p:sp>
        <p:nvSpPr>
          <p:cNvPr id="42" name="Google Shape;42;p9"/>
          <p:cNvSpPr txBox="1"/>
          <p:nvPr>
            <p:ph type="title"/>
          </p:nvPr>
        </p:nvSpPr>
        <p:spPr>
          <a:xfrm>
            <a:off x="265500" y="1382350"/>
            <a:ext cx="4045200" cy="1333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2"/>
              </a:buClr>
              <a:buSzPts val="4200"/>
              <a:buNone/>
              <a:defRPr sz="4200">
                <a:solidFill>
                  <a:schemeClr val="lt2"/>
                </a:solidFill>
              </a:defRPr>
            </a:lvl1pPr>
            <a:lvl2pPr lvl="1" algn="ctr">
              <a:spcBef>
                <a:spcPts val="0"/>
              </a:spcBef>
              <a:spcAft>
                <a:spcPts val="0"/>
              </a:spcAft>
              <a:buClr>
                <a:schemeClr val="lt2"/>
              </a:buClr>
              <a:buSzPts val="4200"/>
              <a:buNone/>
              <a:defRPr sz="4200">
                <a:solidFill>
                  <a:schemeClr val="lt2"/>
                </a:solidFill>
              </a:defRPr>
            </a:lvl2pPr>
            <a:lvl3pPr lvl="2" algn="ctr">
              <a:spcBef>
                <a:spcPts val="0"/>
              </a:spcBef>
              <a:spcAft>
                <a:spcPts val="0"/>
              </a:spcAft>
              <a:buClr>
                <a:schemeClr val="lt2"/>
              </a:buClr>
              <a:buSzPts val="4200"/>
              <a:buNone/>
              <a:defRPr sz="4200">
                <a:solidFill>
                  <a:schemeClr val="lt2"/>
                </a:solidFill>
              </a:defRPr>
            </a:lvl3pPr>
            <a:lvl4pPr lvl="3" algn="ctr">
              <a:spcBef>
                <a:spcPts val="0"/>
              </a:spcBef>
              <a:spcAft>
                <a:spcPts val="0"/>
              </a:spcAft>
              <a:buClr>
                <a:schemeClr val="lt2"/>
              </a:buClr>
              <a:buSzPts val="4200"/>
              <a:buNone/>
              <a:defRPr sz="4200">
                <a:solidFill>
                  <a:schemeClr val="lt2"/>
                </a:solidFill>
              </a:defRPr>
            </a:lvl4pPr>
            <a:lvl5pPr lvl="4" algn="ctr">
              <a:spcBef>
                <a:spcPts val="0"/>
              </a:spcBef>
              <a:spcAft>
                <a:spcPts val="0"/>
              </a:spcAft>
              <a:buClr>
                <a:schemeClr val="lt2"/>
              </a:buClr>
              <a:buSzPts val="4200"/>
              <a:buNone/>
              <a:defRPr sz="4200">
                <a:solidFill>
                  <a:schemeClr val="lt2"/>
                </a:solidFill>
              </a:defRPr>
            </a:lvl5pPr>
            <a:lvl6pPr lvl="5" algn="ctr">
              <a:spcBef>
                <a:spcPts val="0"/>
              </a:spcBef>
              <a:spcAft>
                <a:spcPts val="0"/>
              </a:spcAft>
              <a:buClr>
                <a:schemeClr val="lt2"/>
              </a:buClr>
              <a:buSzPts val="4200"/>
              <a:buNone/>
              <a:defRPr sz="4200">
                <a:solidFill>
                  <a:schemeClr val="lt2"/>
                </a:solidFill>
              </a:defRPr>
            </a:lvl6pPr>
            <a:lvl7pPr lvl="6" algn="ctr">
              <a:spcBef>
                <a:spcPts val="0"/>
              </a:spcBef>
              <a:spcAft>
                <a:spcPts val="0"/>
              </a:spcAft>
              <a:buClr>
                <a:schemeClr val="lt2"/>
              </a:buClr>
              <a:buSzPts val="4200"/>
              <a:buNone/>
              <a:defRPr sz="4200">
                <a:solidFill>
                  <a:schemeClr val="lt2"/>
                </a:solidFill>
              </a:defRPr>
            </a:lvl7pPr>
            <a:lvl8pPr lvl="7" algn="ctr">
              <a:spcBef>
                <a:spcPts val="0"/>
              </a:spcBef>
              <a:spcAft>
                <a:spcPts val="0"/>
              </a:spcAft>
              <a:buClr>
                <a:schemeClr val="lt2"/>
              </a:buClr>
              <a:buSzPts val="4200"/>
              <a:buNone/>
              <a:defRPr sz="4200">
                <a:solidFill>
                  <a:schemeClr val="lt2"/>
                </a:solidFill>
              </a:defRPr>
            </a:lvl8pPr>
            <a:lvl9pPr lvl="8" algn="ctr">
              <a:spcBef>
                <a:spcPts val="0"/>
              </a:spcBef>
              <a:spcAft>
                <a:spcPts val="0"/>
              </a:spcAft>
              <a:buClr>
                <a:schemeClr val="lt2"/>
              </a:buClr>
              <a:buSzPts val="4200"/>
              <a:buNone/>
              <a:defRPr sz="4200">
                <a:solidFill>
                  <a:schemeClr val="lt2"/>
                </a:solidFill>
              </a:defRPr>
            </a:lvl9pPr>
          </a:lstStyle>
          <a:p/>
        </p:txBody>
      </p:sp>
      <p:sp>
        <p:nvSpPr>
          <p:cNvPr id="43" name="Google Shape;43;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accent1"/>
              </a:buClr>
              <a:buSzPts val="1800"/>
              <a:buChar char="●"/>
              <a:defRPr>
                <a:solidFill>
                  <a:schemeClr val="accent1"/>
                </a:solidFill>
              </a:defRPr>
            </a:lvl1pPr>
            <a:lvl2pPr indent="-317500" lvl="1" marL="914400">
              <a:spcBef>
                <a:spcPts val="0"/>
              </a:spcBef>
              <a:spcAft>
                <a:spcPts val="0"/>
              </a:spcAft>
              <a:buClr>
                <a:schemeClr val="accent1"/>
              </a:buClr>
              <a:buSzPts val="1400"/>
              <a:buChar char="○"/>
              <a:defRPr>
                <a:solidFill>
                  <a:schemeClr val="accent1"/>
                </a:solidFill>
              </a:defRPr>
            </a:lvl2pPr>
            <a:lvl3pPr indent="-317500" lvl="2" marL="1371600">
              <a:spcBef>
                <a:spcPts val="0"/>
              </a:spcBef>
              <a:spcAft>
                <a:spcPts val="0"/>
              </a:spcAft>
              <a:buClr>
                <a:schemeClr val="accent1"/>
              </a:buClr>
              <a:buSzPts val="1400"/>
              <a:buChar char="■"/>
              <a:defRPr>
                <a:solidFill>
                  <a:schemeClr val="accent1"/>
                </a:solidFill>
              </a:defRPr>
            </a:lvl3pPr>
            <a:lvl4pPr indent="-317500" lvl="3" marL="1828800">
              <a:spcBef>
                <a:spcPts val="0"/>
              </a:spcBef>
              <a:spcAft>
                <a:spcPts val="0"/>
              </a:spcAft>
              <a:buClr>
                <a:schemeClr val="accent1"/>
              </a:buClr>
              <a:buSzPts val="1400"/>
              <a:buChar char="●"/>
              <a:defRPr>
                <a:solidFill>
                  <a:schemeClr val="accent1"/>
                </a:solidFill>
              </a:defRPr>
            </a:lvl4pPr>
            <a:lvl5pPr indent="-317500" lvl="4" marL="2286000">
              <a:spcBef>
                <a:spcPts val="0"/>
              </a:spcBef>
              <a:spcAft>
                <a:spcPts val="0"/>
              </a:spcAft>
              <a:buClr>
                <a:schemeClr val="accent1"/>
              </a:buClr>
              <a:buSzPts val="1400"/>
              <a:buChar char="○"/>
              <a:defRPr>
                <a:solidFill>
                  <a:schemeClr val="accent1"/>
                </a:solidFill>
              </a:defRPr>
            </a:lvl5pPr>
            <a:lvl6pPr indent="-317500" lvl="5" marL="2743200">
              <a:spcBef>
                <a:spcPts val="0"/>
              </a:spcBef>
              <a:spcAft>
                <a:spcPts val="0"/>
              </a:spcAft>
              <a:buClr>
                <a:schemeClr val="accent1"/>
              </a:buClr>
              <a:buSzPts val="1400"/>
              <a:buChar char="■"/>
              <a:defRPr>
                <a:solidFill>
                  <a:schemeClr val="accent1"/>
                </a:solidFill>
              </a:defRPr>
            </a:lvl6pPr>
            <a:lvl7pPr indent="-317500" lvl="6" marL="3200400">
              <a:spcBef>
                <a:spcPts val="0"/>
              </a:spcBef>
              <a:spcAft>
                <a:spcPts val="0"/>
              </a:spcAft>
              <a:buClr>
                <a:schemeClr val="accent1"/>
              </a:buClr>
              <a:buSzPts val="1400"/>
              <a:buChar char="●"/>
              <a:defRPr>
                <a:solidFill>
                  <a:schemeClr val="accent1"/>
                </a:solidFill>
              </a:defRPr>
            </a:lvl7pPr>
            <a:lvl8pPr indent="-317500" lvl="7" marL="3657600">
              <a:spcBef>
                <a:spcPts val="0"/>
              </a:spcBef>
              <a:spcAft>
                <a:spcPts val="0"/>
              </a:spcAft>
              <a:buClr>
                <a:schemeClr val="accent1"/>
              </a:buClr>
              <a:buSzPts val="1400"/>
              <a:buChar char="○"/>
              <a:defRPr>
                <a:solidFill>
                  <a:schemeClr val="accent1"/>
                </a:solidFill>
              </a:defRPr>
            </a:lvl8pPr>
            <a:lvl9pPr indent="-317500" lvl="8" marL="4114800">
              <a:spcBef>
                <a:spcPts val="0"/>
              </a:spcBef>
              <a:spcAft>
                <a:spcPts val="0"/>
              </a:spcAft>
              <a:buClr>
                <a:schemeClr val="accent1"/>
              </a:buClr>
              <a:buSzPts val="1400"/>
              <a:buChar char="■"/>
              <a:defRPr>
                <a:solidFill>
                  <a:schemeClr val="accent1"/>
                </a:solidFill>
              </a:defRPr>
            </a:lvl9pPr>
          </a:lstStyle>
          <a:p/>
        </p:txBody>
      </p:sp>
      <p:sp>
        <p:nvSpPr>
          <p:cNvPr id="45" name="Google Shape;45;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8" name="Google Shape;48;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039650"/>
            <a:ext cx="8520600" cy="2106300"/>
          </a:xfrm>
          <a:prstGeom prst="rect">
            <a:avLst/>
          </a:prstGeom>
        </p:spPr>
        <p:txBody>
          <a:bodyPr anchorCtr="0" anchor="b"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perback">
    <p:bg>
      <p:bgPr>
        <a:solidFill>
          <a:schemeClr val="accen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p:txBody>
      </p:sp>
      <p:sp>
        <p:nvSpPr>
          <p:cNvPr id="7" name="Google Shape;7;p1"/>
          <p:cNvSpPr txBox="1"/>
          <p:nvPr>
            <p:ph idx="1" type="body"/>
          </p:nvPr>
        </p:nvSpPr>
        <p:spPr>
          <a:xfrm>
            <a:off x="311700" y="1171600"/>
            <a:ext cx="8520600" cy="3397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indent="-317500" lvl="1" marL="9144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indent="-317500" lvl="2" marL="13716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indent="-317500" lvl="3" marL="18288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indent="-317500" lvl="4" marL="22860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indent="-317500" lvl="5" marL="27432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indent="-317500" lvl="6" marL="32004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indent="-317500" lvl="7" marL="36576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indent="-317500" lvl="8" marL="41148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www.kaggle.com/datasets/yasserh/uber-fares-dataset/data"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512700" y="1893300"/>
            <a:ext cx="8118600" cy="1522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Predicting Uber Costs</a:t>
            </a:r>
            <a:endParaRPr/>
          </a:p>
        </p:txBody>
      </p:sp>
      <p:sp>
        <p:nvSpPr>
          <p:cNvPr id="60" name="Google Shape;60;p13"/>
          <p:cNvSpPr txBox="1"/>
          <p:nvPr>
            <p:ph idx="1" type="subTitle"/>
          </p:nvPr>
        </p:nvSpPr>
        <p:spPr>
          <a:xfrm>
            <a:off x="512700" y="3840639"/>
            <a:ext cx="8118600" cy="787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900">
                <a:solidFill>
                  <a:schemeClr val="lt1"/>
                </a:solidFill>
              </a:rPr>
              <a:t>Thomas Gragossian</a:t>
            </a:r>
            <a:endParaRPr sz="190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Dataset</a:t>
            </a:r>
            <a:endParaRPr/>
          </a:p>
        </p:txBody>
      </p:sp>
      <p:sp>
        <p:nvSpPr>
          <p:cNvPr id="66" name="Google Shape;66;p14"/>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We used the </a:t>
            </a:r>
            <a:r>
              <a:rPr lang="en" u="sng">
                <a:solidFill>
                  <a:schemeClr val="hlink"/>
                </a:solidFill>
                <a:hlinkClick r:id="rId3"/>
              </a:rPr>
              <a:t>Uber Fares Dataset</a:t>
            </a:r>
            <a:r>
              <a:rPr lang="en"/>
              <a:t>, containing the columns:</a:t>
            </a:r>
            <a:endParaRPr/>
          </a:p>
          <a:p>
            <a:pPr indent="-342900" lvl="0" marL="457200" rtl="0" algn="l">
              <a:spcBef>
                <a:spcPts val="1200"/>
              </a:spcBef>
              <a:spcAft>
                <a:spcPts val="0"/>
              </a:spcAft>
              <a:buSzPts val="1800"/>
              <a:buChar char="●"/>
            </a:pPr>
            <a:r>
              <a:rPr lang="en"/>
              <a:t># (index purposes)</a:t>
            </a:r>
            <a:endParaRPr/>
          </a:p>
          <a:p>
            <a:pPr indent="-342900" lvl="0" marL="457200" rtl="0" algn="l">
              <a:spcBef>
                <a:spcPts val="0"/>
              </a:spcBef>
              <a:spcAft>
                <a:spcPts val="0"/>
              </a:spcAft>
              <a:buSzPts val="1800"/>
              <a:buChar char="●"/>
            </a:pPr>
            <a:r>
              <a:rPr lang="en"/>
              <a:t>key: Datetime</a:t>
            </a:r>
            <a:endParaRPr/>
          </a:p>
          <a:p>
            <a:pPr indent="-342900" lvl="0" marL="457200" rtl="0" algn="l">
              <a:spcBef>
                <a:spcPts val="0"/>
              </a:spcBef>
              <a:spcAft>
                <a:spcPts val="0"/>
              </a:spcAft>
              <a:buSzPts val="1800"/>
              <a:buChar char="●"/>
            </a:pPr>
            <a:r>
              <a:rPr lang="en"/>
              <a:t>fare_amount: cost of the fare</a:t>
            </a:r>
            <a:endParaRPr/>
          </a:p>
          <a:p>
            <a:pPr indent="-342900" lvl="0" marL="457200" rtl="0" algn="l">
              <a:spcBef>
                <a:spcPts val="0"/>
              </a:spcBef>
              <a:spcAft>
                <a:spcPts val="0"/>
              </a:spcAft>
              <a:buSzPts val="1800"/>
              <a:buChar char="●"/>
            </a:pPr>
            <a:r>
              <a:rPr lang="en"/>
              <a:t>p</a:t>
            </a:r>
            <a:r>
              <a:rPr lang="en"/>
              <a:t>ickup_date: Datetime (same as key)</a:t>
            </a:r>
            <a:endParaRPr/>
          </a:p>
          <a:p>
            <a:pPr indent="-342900" lvl="0" marL="457200" rtl="0" algn="l">
              <a:spcBef>
                <a:spcPts val="0"/>
              </a:spcBef>
              <a:spcAft>
                <a:spcPts val="0"/>
              </a:spcAft>
              <a:buSzPts val="1800"/>
              <a:buChar char="●"/>
            </a:pPr>
            <a:r>
              <a:rPr lang="en"/>
              <a:t>p</a:t>
            </a:r>
            <a:r>
              <a:rPr lang="en"/>
              <a:t>ickup(dropoff)_longitude: pickup/dropoff longitude, two columns</a:t>
            </a:r>
            <a:endParaRPr/>
          </a:p>
          <a:p>
            <a:pPr indent="-342900" lvl="0" marL="457200" rtl="0" algn="l">
              <a:spcBef>
                <a:spcPts val="0"/>
              </a:spcBef>
              <a:spcAft>
                <a:spcPts val="0"/>
              </a:spcAft>
              <a:buSzPts val="1800"/>
              <a:buChar char="●"/>
            </a:pPr>
            <a:r>
              <a:rPr lang="en"/>
              <a:t>pickup(dropoff)_latitude: </a:t>
            </a:r>
            <a:r>
              <a:rPr lang="en"/>
              <a:t>pickup/dropoff latitude, two columns</a:t>
            </a:r>
            <a:endParaRPr/>
          </a:p>
          <a:p>
            <a:pPr indent="-342900" lvl="0" marL="457200" rtl="0" algn="l">
              <a:spcBef>
                <a:spcPts val="0"/>
              </a:spcBef>
              <a:spcAft>
                <a:spcPts val="0"/>
              </a:spcAft>
              <a:buSzPts val="1800"/>
              <a:buChar char="●"/>
            </a:pPr>
            <a:r>
              <a:rPr lang="en"/>
              <a:t>passenger_count: number of passengers</a:t>
            </a:r>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378775" y="2350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Goals</a:t>
            </a:r>
            <a:endParaRPr/>
          </a:p>
        </p:txBody>
      </p:sp>
      <p:sp>
        <p:nvSpPr>
          <p:cNvPr id="72" name="Google Shape;72;p15"/>
          <p:cNvSpPr txBox="1"/>
          <p:nvPr>
            <p:ph idx="1" type="body"/>
          </p:nvPr>
        </p:nvSpPr>
        <p:spPr>
          <a:xfrm>
            <a:off x="378775" y="770200"/>
            <a:ext cx="8432100" cy="406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F1F1F"/>
                </a:solidFill>
              </a:rPr>
              <a:t>We aim to predict three main things: </a:t>
            </a:r>
            <a:endParaRPr>
              <a:solidFill>
                <a:srgbClr val="1F1F1F"/>
              </a:solidFill>
            </a:endParaRPr>
          </a:p>
          <a:p>
            <a:pPr indent="-342900" lvl="0" marL="457200" rtl="0" algn="l">
              <a:spcBef>
                <a:spcPts val="1200"/>
              </a:spcBef>
              <a:spcAft>
                <a:spcPts val="0"/>
              </a:spcAft>
              <a:buClr>
                <a:srgbClr val="1F1F1F"/>
              </a:buClr>
              <a:buSzPts val="1800"/>
              <a:buChar char="●"/>
            </a:pPr>
            <a:r>
              <a:rPr lang="en">
                <a:solidFill>
                  <a:srgbClr val="1F1F1F"/>
                </a:solidFill>
              </a:rPr>
              <a:t>If a trip is expected to be in the top 25% of fare per mile costs</a:t>
            </a:r>
            <a:endParaRPr>
              <a:solidFill>
                <a:srgbClr val="1F1F1F"/>
              </a:solidFill>
            </a:endParaRPr>
          </a:p>
          <a:p>
            <a:pPr indent="-342900" lvl="0" marL="457200" rtl="0" algn="l">
              <a:spcBef>
                <a:spcPts val="0"/>
              </a:spcBef>
              <a:spcAft>
                <a:spcPts val="0"/>
              </a:spcAft>
              <a:buClr>
                <a:srgbClr val="1F1F1F"/>
              </a:buClr>
              <a:buSzPts val="1800"/>
              <a:buChar char="●"/>
            </a:pPr>
            <a:r>
              <a:rPr lang="en">
                <a:solidFill>
                  <a:srgbClr val="1F1F1F"/>
                </a:solidFill>
              </a:rPr>
              <a:t>What is the expected fare per mile cost?</a:t>
            </a:r>
            <a:endParaRPr>
              <a:solidFill>
                <a:srgbClr val="1F1F1F"/>
              </a:solidFill>
            </a:endParaRPr>
          </a:p>
          <a:p>
            <a:pPr indent="-342900" lvl="0" marL="457200" rtl="0" algn="l">
              <a:spcBef>
                <a:spcPts val="0"/>
              </a:spcBef>
              <a:spcAft>
                <a:spcPts val="0"/>
              </a:spcAft>
              <a:buClr>
                <a:srgbClr val="1F1F1F"/>
              </a:buClr>
              <a:buSzPts val="1800"/>
              <a:buChar char="●"/>
            </a:pPr>
            <a:r>
              <a:rPr lang="en">
                <a:solidFill>
                  <a:srgbClr val="1F1F1F"/>
                </a:solidFill>
              </a:rPr>
              <a:t>What is the actual fare for this trip.</a:t>
            </a:r>
            <a:endParaRPr>
              <a:solidFill>
                <a:srgbClr val="1F1F1F"/>
              </a:solidFill>
            </a:endParaRPr>
          </a:p>
          <a:p>
            <a:pPr indent="0" lvl="0" marL="0" rtl="0" algn="l">
              <a:spcBef>
                <a:spcPts val="1200"/>
              </a:spcBef>
              <a:spcAft>
                <a:spcPts val="0"/>
              </a:spcAft>
              <a:buNone/>
            </a:pPr>
            <a:r>
              <a:t/>
            </a:r>
            <a:endParaRPr>
              <a:solidFill>
                <a:srgbClr val="1F1F1F"/>
              </a:solidFill>
            </a:endParaRPr>
          </a:p>
          <a:p>
            <a:pPr indent="0" lvl="0" marL="0" rtl="0" algn="l">
              <a:spcBef>
                <a:spcPts val="1200"/>
              </a:spcBef>
              <a:spcAft>
                <a:spcPts val="1200"/>
              </a:spcAft>
              <a:buNone/>
            </a:pPr>
            <a:r>
              <a:rPr lang="en">
                <a:solidFill>
                  <a:srgbClr val="1F1F1F"/>
                </a:solidFill>
              </a:rPr>
              <a:t>We split it into these three categories because the first binary category is something very useful to know as a user, where fare per mile is the most sensible to "normalize" the cost with respect to distance. This leads us into our second, fare per mile cost, which we use in predicting the first category. Lastly, the fare itself helps the user understand the cost more relatively for them.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Stakeholders &amp; Context</a:t>
            </a:r>
            <a:endParaRPr/>
          </a:p>
        </p:txBody>
      </p:sp>
      <p:sp>
        <p:nvSpPr>
          <p:cNvPr id="78" name="Google Shape;78;p16"/>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Riders</a:t>
            </a:r>
            <a:r>
              <a:rPr lang="en"/>
              <a:t> (primary)  - want clear, predictable fares for specific routes/times</a:t>
            </a:r>
            <a:endParaRPr/>
          </a:p>
          <a:p>
            <a:pPr indent="-342900" lvl="0" marL="457200" rtl="0" algn="l">
              <a:spcBef>
                <a:spcPts val="0"/>
              </a:spcBef>
              <a:spcAft>
                <a:spcPts val="0"/>
              </a:spcAft>
              <a:buSzPts val="1800"/>
              <a:buChar char="●"/>
            </a:pPr>
            <a:r>
              <a:rPr lang="en"/>
              <a:t>Drivers (secondary) - want to identify profitable time/areas to work</a:t>
            </a:r>
            <a:endParaRPr/>
          </a:p>
          <a:p>
            <a:pPr indent="-342900" lvl="0" marL="457200" rtl="0" algn="l">
              <a:spcBef>
                <a:spcPts val="0"/>
              </a:spcBef>
              <a:spcAft>
                <a:spcPts val="0"/>
              </a:spcAft>
              <a:buSzPts val="1800"/>
              <a:buChar char="●"/>
            </a:pPr>
            <a:r>
              <a:rPr lang="en"/>
              <a:t>Uber (</a:t>
            </a:r>
            <a:r>
              <a:rPr lang="en"/>
              <a:t>tertiary</a:t>
            </a:r>
            <a:r>
              <a:rPr lang="en"/>
              <a:t>) - wants accurate pricing to balance </a:t>
            </a:r>
            <a:r>
              <a:rPr lang="en"/>
              <a:t>demand</a:t>
            </a:r>
            <a:r>
              <a:rPr lang="en"/>
              <a:t>, supply &amp; profit</a:t>
            </a:r>
            <a:endParaRPr/>
          </a:p>
          <a:p>
            <a:pPr indent="-342900" lvl="0" marL="457200" rtl="0" algn="l">
              <a:spcBef>
                <a:spcPts val="0"/>
              </a:spcBef>
              <a:spcAft>
                <a:spcPts val="0"/>
              </a:spcAft>
              <a:buSzPts val="1800"/>
              <a:buChar char="●"/>
            </a:pPr>
            <a:r>
              <a:rPr lang="en"/>
              <a:t>City/regulators (indirect) - care about equity, congestion, access</a:t>
            </a:r>
            <a:endParaRPr/>
          </a:p>
          <a:p>
            <a:pPr indent="-342900" lvl="0" marL="457200" rtl="0" algn="l">
              <a:spcBef>
                <a:spcPts val="0"/>
              </a:spcBef>
              <a:spcAft>
                <a:spcPts val="0"/>
              </a:spcAft>
              <a:buSzPts val="1800"/>
              <a:buChar char="●"/>
            </a:pPr>
            <a:r>
              <a:rPr lang="en"/>
              <a:t>Geographic context: models trained on NYC Uber trips, but methods generalize to other cities</a:t>
            </a:r>
            <a:endParaRPr/>
          </a:p>
          <a:p>
            <a:pPr indent="0" lvl="0" marL="45720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Feature Engineering</a:t>
            </a:r>
            <a:endParaRPr/>
          </a:p>
        </p:txBody>
      </p:sp>
      <p:sp>
        <p:nvSpPr>
          <p:cNvPr id="84" name="Google Shape;84;p17"/>
          <p:cNvSpPr txBox="1"/>
          <p:nvPr>
            <p:ph idx="1" type="body"/>
          </p:nvPr>
        </p:nvSpPr>
        <p:spPr>
          <a:xfrm>
            <a:off x="311700" y="1204450"/>
            <a:ext cx="8520600" cy="3397200"/>
          </a:xfrm>
          <a:prstGeom prst="rect">
            <a:avLst/>
          </a:prstGeom>
        </p:spPr>
        <p:txBody>
          <a:bodyPr anchorCtr="0" anchor="t" bIns="91425" lIns="91425" spcFirstLastPara="1" rIns="91425" wrap="square" tIns="91425">
            <a:normAutofit/>
          </a:bodyPr>
          <a:lstStyle/>
          <a:p>
            <a:pPr indent="-381000" lvl="0" marL="457200" rtl="0" algn="l">
              <a:spcBef>
                <a:spcPts val="0"/>
              </a:spcBef>
              <a:spcAft>
                <a:spcPts val="0"/>
              </a:spcAft>
              <a:buSzPts val="2400"/>
              <a:buChar char="●"/>
            </a:pPr>
            <a:r>
              <a:rPr lang="en" sz="2400"/>
              <a:t>Trip distance in miles (haversine)</a:t>
            </a:r>
            <a:endParaRPr sz="2400"/>
          </a:p>
          <a:p>
            <a:pPr indent="-381000" lvl="0" marL="457200" rtl="0" algn="l">
              <a:spcBef>
                <a:spcPts val="0"/>
              </a:spcBef>
              <a:spcAft>
                <a:spcPts val="0"/>
              </a:spcAft>
              <a:buSzPts val="2400"/>
              <a:buChar char="●"/>
            </a:pPr>
            <a:r>
              <a:rPr lang="en" sz="2400"/>
              <a:t>Time features: time-of-day bin, weekday rush, Fri/Sat late-night</a:t>
            </a:r>
            <a:endParaRPr sz="2400"/>
          </a:p>
          <a:p>
            <a:pPr indent="-381000" lvl="0" marL="457200" rtl="0" algn="l">
              <a:spcBef>
                <a:spcPts val="0"/>
              </a:spcBef>
              <a:spcAft>
                <a:spcPts val="0"/>
              </a:spcAft>
              <a:buSzPts val="2400"/>
              <a:buChar char="●"/>
            </a:pPr>
            <a:r>
              <a:rPr lang="en" sz="2400"/>
              <a:t>Year + </a:t>
            </a:r>
            <a:r>
              <a:rPr lang="en" sz="2400"/>
              <a:t>inflation data for long-term trend</a:t>
            </a:r>
            <a:endParaRPr sz="2400"/>
          </a:p>
          <a:p>
            <a:pPr indent="-381000" lvl="0" marL="457200" rtl="0" algn="l">
              <a:spcBef>
                <a:spcPts val="0"/>
              </a:spcBef>
              <a:spcAft>
                <a:spcPts val="0"/>
              </a:spcAft>
              <a:buSzPts val="2400"/>
              <a:buChar char="●"/>
            </a:pPr>
            <a:r>
              <a:rPr lang="en" sz="2400"/>
              <a:t>Airport proximity (JFK, LGA, EWR)</a:t>
            </a:r>
            <a:endParaRPr sz="2400"/>
          </a:p>
          <a:p>
            <a:pPr indent="-381000" lvl="0" marL="457200" rtl="0" algn="l">
              <a:spcBef>
                <a:spcPts val="0"/>
              </a:spcBef>
              <a:spcAft>
                <a:spcPts val="0"/>
              </a:spcAft>
              <a:buSzPts val="2400"/>
              <a:buChar char="●"/>
            </a:pPr>
            <a:r>
              <a:rPr lang="en" sz="2400"/>
              <a:t>Removed locational outliers (NYC only), see next slide for graphic</a:t>
            </a:r>
            <a:endParaRPr sz="2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311700" y="18277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Location Data Graphic</a:t>
            </a:r>
            <a:endParaRPr/>
          </a:p>
        </p:txBody>
      </p:sp>
      <p:pic>
        <p:nvPicPr>
          <p:cNvPr id="90" name="Google Shape;90;p18"/>
          <p:cNvPicPr preferRelativeResize="0"/>
          <p:nvPr/>
        </p:nvPicPr>
        <p:blipFill>
          <a:blip r:embed="rId3">
            <a:alphaModFix/>
          </a:blip>
          <a:stretch>
            <a:fillRect/>
          </a:stretch>
        </p:blipFill>
        <p:spPr>
          <a:xfrm>
            <a:off x="123875" y="901663"/>
            <a:ext cx="5068374" cy="2956924"/>
          </a:xfrm>
          <a:prstGeom prst="rect">
            <a:avLst/>
          </a:prstGeom>
          <a:noFill/>
          <a:ln>
            <a:noFill/>
          </a:ln>
        </p:spPr>
      </p:pic>
      <p:pic>
        <p:nvPicPr>
          <p:cNvPr id="91" name="Google Shape;91;p18"/>
          <p:cNvPicPr preferRelativeResize="0"/>
          <p:nvPr/>
        </p:nvPicPr>
        <p:blipFill>
          <a:blip r:embed="rId4">
            <a:alphaModFix/>
          </a:blip>
          <a:stretch>
            <a:fillRect/>
          </a:stretch>
        </p:blipFill>
        <p:spPr>
          <a:xfrm>
            <a:off x="5294824" y="267375"/>
            <a:ext cx="3537478" cy="4225501"/>
          </a:xfrm>
          <a:prstGeom prst="rect">
            <a:avLst/>
          </a:prstGeom>
          <a:noFill/>
          <a:ln>
            <a:noFill/>
          </a:ln>
        </p:spPr>
      </p:pic>
      <p:sp>
        <p:nvSpPr>
          <p:cNvPr id="92" name="Google Shape;92;p18"/>
          <p:cNvSpPr txBox="1"/>
          <p:nvPr/>
        </p:nvSpPr>
        <p:spPr>
          <a:xfrm>
            <a:off x="481045" y="3858575"/>
            <a:ext cx="4711200" cy="74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Old Standard TT"/>
                <a:ea typeface="Old Standard TT"/>
                <a:cs typeface="Old Standard TT"/>
                <a:sym typeface="Old Standard TT"/>
              </a:rPr>
              <a:t>(Global outliers, most likely due to GPS or signal fluctuations or faulty records)</a:t>
            </a:r>
            <a:endParaRPr sz="1800">
              <a:solidFill>
                <a:schemeClr val="dk1"/>
              </a:solidFill>
              <a:latin typeface="Old Standard TT"/>
              <a:ea typeface="Old Standard TT"/>
              <a:cs typeface="Old Standard TT"/>
              <a:sym typeface="Old Standard TT"/>
            </a:endParaRPr>
          </a:p>
        </p:txBody>
      </p:sp>
      <p:sp>
        <p:nvSpPr>
          <p:cNvPr id="93" name="Google Shape;93;p18"/>
          <p:cNvSpPr txBox="1"/>
          <p:nvPr/>
        </p:nvSpPr>
        <p:spPr>
          <a:xfrm>
            <a:off x="5090771" y="4310806"/>
            <a:ext cx="3945600" cy="74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Old Standard TT"/>
                <a:ea typeface="Old Standard TT"/>
                <a:cs typeface="Old Standard TT"/>
                <a:sym typeface="Old Standard TT"/>
              </a:rPr>
              <a:t>(Some outliers still present on waters after global filtering)</a:t>
            </a:r>
            <a:endParaRPr sz="1800">
              <a:solidFill>
                <a:schemeClr val="dk1"/>
              </a:solidFill>
              <a:latin typeface="Old Standard TT"/>
              <a:ea typeface="Old Standard TT"/>
              <a:cs typeface="Old Standard TT"/>
              <a:sym typeface="Old Standard T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9"/>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Feature Selection</a:t>
            </a:r>
            <a:endParaRPr/>
          </a:p>
        </p:txBody>
      </p:sp>
      <p:sp>
        <p:nvSpPr>
          <p:cNvPr id="99" name="Google Shape;99;p19"/>
          <p:cNvSpPr txBox="1"/>
          <p:nvPr>
            <p:ph idx="1" type="body"/>
          </p:nvPr>
        </p:nvSpPr>
        <p:spPr>
          <a:xfrm>
            <a:off x="311700" y="1171600"/>
            <a:ext cx="4072800" cy="3657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We used LASSO to see what features in the previous slide to eliminate, these were the results for the </a:t>
            </a:r>
            <a:r>
              <a:rPr lang="en"/>
              <a:t>coefficients, and nothing was removed.</a:t>
            </a:r>
            <a:endParaRPr/>
          </a:p>
        </p:txBody>
      </p:sp>
      <p:pic>
        <p:nvPicPr>
          <p:cNvPr id="100" name="Google Shape;100;p19" title="144lasso.PNG"/>
          <p:cNvPicPr preferRelativeResize="0"/>
          <p:nvPr/>
        </p:nvPicPr>
        <p:blipFill>
          <a:blip r:embed="rId3">
            <a:alphaModFix/>
          </a:blip>
          <a:stretch>
            <a:fillRect/>
          </a:stretch>
        </p:blipFill>
        <p:spPr>
          <a:xfrm>
            <a:off x="4506413" y="1171600"/>
            <a:ext cx="3800475" cy="36576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0"/>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Models Used And Methods</a:t>
            </a:r>
            <a:endParaRPr/>
          </a:p>
        </p:txBody>
      </p:sp>
      <p:sp>
        <p:nvSpPr>
          <p:cNvPr id="106" name="Google Shape;106;p20"/>
          <p:cNvSpPr txBox="1"/>
          <p:nvPr>
            <p:ph idx="1" type="body"/>
          </p:nvPr>
        </p:nvSpPr>
        <p:spPr>
          <a:xfrm>
            <a:off x="311700" y="1163525"/>
            <a:ext cx="8520600" cy="3766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Feature Engineering</a:t>
            </a:r>
            <a:endParaRPr/>
          </a:p>
          <a:p>
            <a:pPr indent="-342900" lvl="0" marL="457200" rtl="0" algn="l">
              <a:spcBef>
                <a:spcPts val="0"/>
              </a:spcBef>
              <a:spcAft>
                <a:spcPts val="0"/>
              </a:spcAft>
              <a:buSzPts val="1800"/>
              <a:buChar char="●"/>
            </a:pPr>
            <a:r>
              <a:rPr lang="en"/>
              <a:t>Filters (~192k valid trips) on 80/20 train-test split</a:t>
            </a:r>
            <a:endParaRPr/>
          </a:p>
          <a:p>
            <a:pPr indent="-342900" lvl="0" marL="457200" rtl="0" algn="l">
              <a:spcBef>
                <a:spcPts val="0"/>
              </a:spcBef>
              <a:spcAft>
                <a:spcPts val="0"/>
              </a:spcAft>
              <a:buSzPts val="1800"/>
              <a:buChar char="●"/>
            </a:pPr>
            <a:r>
              <a:rPr lang="en"/>
              <a:t>LASSO feature selection with standard scalar and GridSearchCV</a:t>
            </a:r>
            <a:endParaRPr/>
          </a:p>
          <a:p>
            <a:pPr indent="-342900" lvl="0" marL="457200" rtl="0" algn="l">
              <a:spcBef>
                <a:spcPts val="0"/>
              </a:spcBef>
              <a:spcAft>
                <a:spcPts val="0"/>
              </a:spcAft>
              <a:buSzPts val="1800"/>
              <a:buChar char="●"/>
            </a:pPr>
            <a:r>
              <a:rPr lang="en"/>
              <a:t>Random Forest (RF)</a:t>
            </a:r>
            <a:endParaRPr/>
          </a:p>
          <a:p>
            <a:pPr indent="-342900" lvl="0" marL="457200" rtl="0" algn="l">
              <a:spcBef>
                <a:spcPts val="0"/>
              </a:spcBef>
              <a:spcAft>
                <a:spcPts val="0"/>
              </a:spcAft>
              <a:buSzPts val="1800"/>
              <a:buChar char="●"/>
            </a:pPr>
            <a:r>
              <a:rPr lang="en"/>
              <a:t>Neural Network (NN)</a:t>
            </a:r>
            <a:endParaRPr/>
          </a:p>
          <a:p>
            <a:pPr indent="-342900" lvl="0" marL="457200" rtl="0" algn="l">
              <a:spcBef>
                <a:spcPts val="0"/>
              </a:spcBef>
              <a:spcAft>
                <a:spcPts val="0"/>
              </a:spcAft>
              <a:buSzPts val="1800"/>
              <a:buChar char="●"/>
            </a:pPr>
            <a:r>
              <a:rPr lang="en"/>
              <a:t>Ensemble of RF and NN for is expensive</a:t>
            </a:r>
            <a:endParaRPr/>
          </a:p>
          <a:p>
            <a:pPr indent="-342900" lvl="0" marL="457200" rtl="0" algn="l">
              <a:spcBef>
                <a:spcPts val="0"/>
              </a:spcBef>
              <a:spcAft>
                <a:spcPts val="0"/>
              </a:spcAft>
              <a:buSzPts val="1800"/>
              <a:buChar char="●"/>
            </a:pPr>
            <a:r>
              <a:rPr lang="en"/>
              <a:t>RF only for fare and fare per mile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1"/>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a:t>
            </a:r>
            <a:endParaRPr/>
          </a:p>
        </p:txBody>
      </p:sp>
      <p:sp>
        <p:nvSpPr>
          <p:cNvPr id="112" name="Google Shape;112;p21"/>
          <p:cNvSpPr txBox="1"/>
          <p:nvPr>
            <p:ph idx="1" type="body"/>
          </p:nvPr>
        </p:nvSpPr>
        <p:spPr>
          <a:xfrm>
            <a:off x="311700" y="1171600"/>
            <a:ext cx="8520600" cy="3397200"/>
          </a:xfrm>
          <a:prstGeom prst="rect">
            <a:avLst/>
          </a:prstGeom>
        </p:spPr>
        <p:txBody>
          <a:bodyPr anchorCtr="0" anchor="t" bIns="91425" lIns="91425" spcFirstLastPara="1" rIns="91425" wrap="square" tIns="91425">
            <a:normAutofit fontScale="85000" lnSpcReduction="20000"/>
          </a:bodyPr>
          <a:lstStyle/>
          <a:p>
            <a:pPr indent="-325755" lvl="0" marL="457200" rtl="0" algn="l">
              <a:spcBef>
                <a:spcPts val="0"/>
              </a:spcBef>
              <a:spcAft>
                <a:spcPts val="0"/>
              </a:spcAft>
              <a:buSzPct val="100000"/>
              <a:buChar char="●"/>
            </a:pPr>
            <a:r>
              <a:rPr lang="en"/>
              <a:t>Final </a:t>
            </a:r>
            <a:r>
              <a:rPr lang="en"/>
              <a:t>dataset</a:t>
            </a:r>
            <a:r>
              <a:rPr lang="en"/>
              <a:t>: 195,80</a:t>
            </a:r>
            <a:r>
              <a:rPr lang="en"/>
              <a:t>6 trips (filtered from 200k)</a:t>
            </a:r>
            <a:endParaRPr/>
          </a:p>
          <a:p>
            <a:pPr indent="-325755" lvl="0" marL="457200" rtl="0" algn="l">
              <a:spcBef>
                <a:spcPts val="0"/>
              </a:spcBef>
              <a:spcAft>
                <a:spcPts val="0"/>
              </a:spcAft>
              <a:buSzPct val="100000"/>
              <a:buChar char="●"/>
            </a:pPr>
            <a:r>
              <a:rPr lang="en"/>
              <a:t>Expensive threshold: $8.06 per mile </a:t>
            </a:r>
            <a:endParaRPr/>
          </a:p>
          <a:p>
            <a:pPr indent="-325755" lvl="0" marL="457200" rtl="0" algn="l">
              <a:spcBef>
                <a:spcPts val="0"/>
              </a:spcBef>
              <a:spcAft>
                <a:spcPts val="0"/>
              </a:spcAft>
              <a:buSzPct val="100000"/>
              <a:buChar char="●"/>
            </a:pPr>
            <a:r>
              <a:rPr lang="en"/>
              <a:t>Class balance: 144,169 non-expensive / 48,057 expensive</a:t>
            </a:r>
            <a:endParaRPr/>
          </a:p>
          <a:p>
            <a:pPr indent="0" lvl="0" marL="0" rtl="0" algn="l">
              <a:spcBef>
                <a:spcPts val="1200"/>
              </a:spcBef>
              <a:spcAft>
                <a:spcPts val="0"/>
              </a:spcAft>
              <a:buNone/>
            </a:pPr>
            <a:r>
              <a:rPr lang="en"/>
              <a:t>Classification</a:t>
            </a:r>
            <a:endParaRPr/>
          </a:p>
          <a:p>
            <a:pPr indent="-325755" lvl="0" marL="457200" rtl="0" algn="l">
              <a:spcBef>
                <a:spcPts val="1200"/>
              </a:spcBef>
              <a:spcAft>
                <a:spcPts val="0"/>
              </a:spcAft>
              <a:buSzPct val="100000"/>
              <a:buChar char="●"/>
            </a:pPr>
            <a:r>
              <a:rPr lang="en"/>
              <a:t>Random Forest AUC: 0.9337</a:t>
            </a:r>
            <a:endParaRPr/>
          </a:p>
          <a:p>
            <a:pPr indent="-325755" lvl="0" marL="457200" rtl="0" algn="l">
              <a:spcBef>
                <a:spcPts val="0"/>
              </a:spcBef>
              <a:spcAft>
                <a:spcPts val="0"/>
              </a:spcAft>
              <a:buSzPct val="100000"/>
              <a:buChar char="●"/>
            </a:pPr>
            <a:r>
              <a:rPr lang="en"/>
              <a:t>Neural Network AUC: 0.9368</a:t>
            </a:r>
            <a:endParaRPr/>
          </a:p>
          <a:p>
            <a:pPr indent="-325755" lvl="0" marL="457200" rtl="0" algn="l">
              <a:spcBef>
                <a:spcPts val="0"/>
              </a:spcBef>
              <a:spcAft>
                <a:spcPts val="0"/>
              </a:spcAft>
              <a:buSzPct val="100000"/>
              <a:buChar char="●"/>
            </a:pPr>
            <a:r>
              <a:rPr lang="en"/>
              <a:t>Ensemble AUC: 0.9378	 ← Best classifier (combines RF + NN)</a:t>
            </a:r>
            <a:endParaRPr/>
          </a:p>
          <a:p>
            <a:pPr indent="-325755" lvl="0" marL="457200" rtl="0" algn="l">
              <a:spcBef>
                <a:spcPts val="0"/>
              </a:spcBef>
              <a:spcAft>
                <a:spcPts val="0"/>
              </a:spcAft>
              <a:buSzPct val="100000"/>
              <a:buChar char="●"/>
            </a:pPr>
            <a:r>
              <a:rPr lang="en"/>
              <a:t>Accuracy: 0.89 / Weighted F1 score: 0.88 </a:t>
            </a:r>
            <a:endParaRPr/>
          </a:p>
          <a:p>
            <a:pPr indent="0" lvl="0" marL="0" rtl="0" algn="l">
              <a:spcBef>
                <a:spcPts val="1200"/>
              </a:spcBef>
              <a:spcAft>
                <a:spcPts val="0"/>
              </a:spcAft>
              <a:buNone/>
            </a:pPr>
            <a:r>
              <a:rPr lang="en"/>
              <a:t>Regression (Random Forest)</a:t>
            </a:r>
            <a:endParaRPr/>
          </a:p>
          <a:p>
            <a:pPr indent="-325755" lvl="0" marL="457200" rtl="0" algn="l">
              <a:spcBef>
                <a:spcPts val="1200"/>
              </a:spcBef>
              <a:spcAft>
                <a:spcPts val="0"/>
              </a:spcAft>
              <a:buSzPct val="100000"/>
              <a:buChar char="●"/>
            </a:pPr>
            <a:r>
              <a:rPr lang="en"/>
              <a:t>Fare MAE: $1.72, RMSE: $3.56, nMAE: 0.153</a:t>
            </a:r>
            <a:endParaRPr/>
          </a:p>
          <a:p>
            <a:pPr indent="-325755" lvl="0" marL="457200" rtl="0" algn="l">
              <a:spcBef>
                <a:spcPts val="0"/>
              </a:spcBef>
              <a:spcAft>
                <a:spcPts val="0"/>
              </a:spcAft>
              <a:buSzPct val="100000"/>
              <a:buChar char="●"/>
            </a:pPr>
            <a:r>
              <a:rPr lang="en"/>
              <a:t>Fare-per-mile MAE: $1.44, RMSE: $6.76, nMAE: 0.200</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2"/>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Prediction Demo</a:t>
            </a:r>
            <a:endParaRPr/>
          </a:p>
        </p:txBody>
      </p:sp>
      <p:sp>
        <p:nvSpPr>
          <p:cNvPr id="118" name="Google Shape;118;p22"/>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211 Main St </a:t>
            </a:r>
            <a:r>
              <a:rPr lang="en"/>
              <a:t>to 3 Brewster Rd (Newark Airport)</a:t>
            </a:r>
            <a:endParaRPr/>
          </a:p>
          <a:p>
            <a:pPr indent="0" lvl="0" marL="0" rtl="0" algn="l">
              <a:spcBef>
                <a:spcPts val="1200"/>
              </a:spcBef>
              <a:spcAft>
                <a:spcPts val="0"/>
              </a:spcAft>
              <a:buNone/>
            </a:pPr>
            <a:r>
              <a:rPr lang="en"/>
              <a:t>211 Main St</a:t>
            </a:r>
            <a:r>
              <a:rPr lang="en"/>
              <a:t>: </a:t>
            </a:r>
            <a:r>
              <a:rPr lang="en"/>
              <a:t>40.7839 l</a:t>
            </a:r>
            <a:r>
              <a:rPr lang="en"/>
              <a:t>atitude and -74.2340 longitude</a:t>
            </a:r>
            <a:endParaRPr/>
          </a:p>
          <a:p>
            <a:pPr indent="0" lvl="0" marL="0" rtl="0" algn="l">
              <a:spcBef>
                <a:spcPts val="1200"/>
              </a:spcBef>
              <a:spcAft>
                <a:spcPts val="0"/>
              </a:spcAft>
              <a:buNone/>
            </a:pPr>
            <a:r>
              <a:rPr lang="en"/>
              <a:t>3 Brewster Rd</a:t>
            </a:r>
            <a:r>
              <a:rPr lang="en"/>
              <a:t>: </a:t>
            </a:r>
            <a:r>
              <a:rPr lang="en">
                <a:highlight>
                  <a:schemeClr val="accent1"/>
                </a:highlight>
              </a:rPr>
              <a:t>40.7304 latitude and -74.1789 l</a:t>
            </a:r>
            <a:r>
              <a:rPr lang="en"/>
              <a:t>ongitude</a:t>
            </a:r>
            <a:endParaRPr/>
          </a:p>
          <a:p>
            <a:pPr indent="0" lvl="0" marL="0" rtl="0" algn="l">
              <a:spcBef>
                <a:spcPts val="1200"/>
              </a:spcBef>
              <a:spcAft>
                <a:spcPts val="0"/>
              </a:spcAft>
              <a:buNone/>
            </a:pPr>
            <a:r>
              <a:t/>
            </a:r>
            <a:endParaRPr sz="1200">
              <a:highlight>
                <a:schemeClr val="dk1"/>
              </a:highlight>
            </a:endParaRPr>
          </a:p>
          <a:p>
            <a:pPr indent="0" lvl="0" marL="0" rtl="0" algn="l">
              <a:lnSpc>
                <a:spcPct val="135714"/>
              </a:lnSpc>
              <a:spcBef>
                <a:spcPts val="1200"/>
              </a:spcBef>
              <a:spcAft>
                <a:spcPts val="0"/>
              </a:spcAft>
              <a:buClr>
                <a:schemeClr val="dk1"/>
              </a:buClr>
              <a:buSzPts val="1100"/>
              <a:buFont typeface="Arial"/>
              <a:buNone/>
            </a:pPr>
            <a:r>
              <a:rPr lang="en" sz="1350">
                <a:highlight>
                  <a:schemeClr val="accent1"/>
                </a:highlight>
                <a:latin typeface="Courier New"/>
                <a:ea typeface="Courier New"/>
                <a:cs typeface="Courier New"/>
                <a:sym typeface="Courier New"/>
              </a:rPr>
              <a:t>predict(</a:t>
            </a:r>
            <a:r>
              <a:rPr lang="en" sz="1350">
                <a:solidFill>
                  <a:srgbClr val="116644"/>
                </a:solidFill>
                <a:highlight>
                  <a:schemeClr val="accent1"/>
                </a:highlight>
                <a:latin typeface="Courier New"/>
                <a:ea typeface="Courier New"/>
                <a:cs typeface="Courier New"/>
                <a:sym typeface="Courier New"/>
              </a:rPr>
              <a:t>40.7839</a:t>
            </a:r>
            <a:r>
              <a:rPr lang="en" sz="1350">
                <a:highlight>
                  <a:schemeClr val="accent1"/>
                </a:highlight>
                <a:latin typeface="Courier New"/>
                <a:ea typeface="Courier New"/>
                <a:cs typeface="Courier New"/>
                <a:sym typeface="Courier New"/>
              </a:rPr>
              <a:t>, </a:t>
            </a:r>
            <a:r>
              <a:rPr lang="en" sz="1350">
                <a:solidFill>
                  <a:srgbClr val="116644"/>
                </a:solidFill>
                <a:highlight>
                  <a:schemeClr val="accent1"/>
                </a:highlight>
                <a:latin typeface="Courier New"/>
                <a:ea typeface="Courier New"/>
                <a:cs typeface="Courier New"/>
                <a:sym typeface="Courier New"/>
              </a:rPr>
              <a:t>-74.2340</a:t>
            </a:r>
            <a:r>
              <a:rPr lang="en" sz="1350">
                <a:highlight>
                  <a:schemeClr val="accent1"/>
                </a:highlight>
                <a:latin typeface="Courier New"/>
                <a:ea typeface="Courier New"/>
                <a:cs typeface="Courier New"/>
                <a:sym typeface="Courier New"/>
              </a:rPr>
              <a:t>, </a:t>
            </a:r>
            <a:r>
              <a:rPr lang="en" sz="1350">
                <a:solidFill>
                  <a:srgbClr val="116644"/>
                </a:solidFill>
                <a:highlight>
                  <a:schemeClr val="accent1"/>
                </a:highlight>
                <a:latin typeface="Courier New"/>
                <a:ea typeface="Courier New"/>
                <a:cs typeface="Courier New"/>
                <a:sym typeface="Courier New"/>
              </a:rPr>
              <a:t>40.7304</a:t>
            </a:r>
            <a:r>
              <a:rPr lang="en" sz="1350">
                <a:highlight>
                  <a:schemeClr val="accent1"/>
                </a:highlight>
                <a:latin typeface="Courier New"/>
                <a:ea typeface="Courier New"/>
                <a:cs typeface="Courier New"/>
                <a:sym typeface="Courier New"/>
              </a:rPr>
              <a:t>, -</a:t>
            </a:r>
            <a:r>
              <a:rPr lang="en" sz="1350">
                <a:solidFill>
                  <a:srgbClr val="116644"/>
                </a:solidFill>
                <a:highlight>
                  <a:schemeClr val="accent1"/>
                </a:highlight>
                <a:latin typeface="Courier New"/>
                <a:ea typeface="Courier New"/>
                <a:cs typeface="Courier New"/>
                <a:sym typeface="Courier New"/>
              </a:rPr>
              <a:t>74.1789</a:t>
            </a:r>
            <a:r>
              <a:rPr lang="en" sz="1350">
                <a:highlight>
                  <a:schemeClr val="accent1"/>
                </a:highlight>
                <a:latin typeface="Courier New"/>
                <a:ea typeface="Courier New"/>
                <a:cs typeface="Courier New"/>
                <a:sym typeface="Courier New"/>
              </a:rPr>
              <a:t>, </a:t>
            </a:r>
            <a:r>
              <a:rPr lang="en" sz="1350">
                <a:solidFill>
                  <a:srgbClr val="116644"/>
                </a:solidFill>
                <a:highlight>
                  <a:schemeClr val="accent1"/>
                </a:highlight>
                <a:latin typeface="Courier New"/>
                <a:ea typeface="Courier New"/>
                <a:cs typeface="Courier New"/>
                <a:sym typeface="Courier New"/>
              </a:rPr>
              <a:t>1</a:t>
            </a:r>
            <a:r>
              <a:rPr lang="en" sz="1350">
                <a:highlight>
                  <a:schemeClr val="accent1"/>
                </a:highlight>
                <a:latin typeface="Courier New"/>
                <a:ea typeface="Courier New"/>
                <a:cs typeface="Courier New"/>
                <a:sym typeface="Courier New"/>
              </a:rPr>
              <a:t>, </a:t>
            </a:r>
            <a:r>
              <a:rPr lang="en" sz="1350">
                <a:solidFill>
                  <a:srgbClr val="A31515"/>
                </a:solidFill>
                <a:highlight>
                  <a:schemeClr val="accent1"/>
                </a:highlight>
                <a:latin typeface="Courier New"/>
                <a:ea typeface="Courier New"/>
                <a:cs typeface="Courier New"/>
                <a:sym typeface="Courier New"/>
              </a:rPr>
              <a:t>"2025-11-30 12:10:00"</a:t>
            </a:r>
            <a:r>
              <a:rPr lang="en" sz="1350">
                <a:highlight>
                  <a:schemeClr val="accent1"/>
                </a:highlight>
                <a:latin typeface="Courier New"/>
                <a:ea typeface="Courier New"/>
                <a:cs typeface="Courier New"/>
                <a:sym typeface="Courier New"/>
              </a:rPr>
              <a:t>, arts))</a:t>
            </a:r>
            <a:endParaRPr sz="1350">
              <a:highlight>
                <a:schemeClr val="accent1"/>
              </a:highlight>
              <a:latin typeface="Courier New"/>
              <a:ea typeface="Courier New"/>
              <a:cs typeface="Courier New"/>
              <a:sym typeface="Courier New"/>
            </a:endParaRPr>
          </a:p>
          <a:p>
            <a:pPr indent="0" lvl="0" marL="0" rtl="0" algn="l">
              <a:spcBef>
                <a:spcPts val="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pic>
        <p:nvPicPr>
          <p:cNvPr id="123" name="Google Shape;123;p23" title="스크린샷 2025-12-02 오후 10.26.52.png"/>
          <p:cNvPicPr preferRelativeResize="0"/>
          <p:nvPr/>
        </p:nvPicPr>
        <p:blipFill>
          <a:blip r:embed="rId3">
            <a:alphaModFix/>
          </a:blip>
          <a:stretch>
            <a:fillRect/>
          </a:stretch>
        </p:blipFill>
        <p:spPr>
          <a:xfrm>
            <a:off x="2923875" y="1538625"/>
            <a:ext cx="6076449" cy="2066237"/>
          </a:xfrm>
          <a:prstGeom prst="rect">
            <a:avLst/>
          </a:prstGeom>
          <a:noFill/>
          <a:ln>
            <a:noFill/>
          </a:ln>
        </p:spPr>
      </p:pic>
      <p:pic>
        <p:nvPicPr>
          <p:cNvPr id="124" name="Google Shape;124;p23" title="IMG_5266.PNG"/>
          <p:cNvPicPr preferRelativeResize="0"/>
          <p:nvPr/>
        </p:nvPicPr>
        <p:blipFill>
          <a:blip r:embed="rId4">
            <a:alphaModFix/>
          </a:blip>
          <a:stretch>
            <a:fillRect/>
          </a:stretch>
        </p:blipFill>
        <p:spPr>
          <a:xfrm>
            <a:off x="535325" y="80338"/>
            <a:ext cx="2235739" cy="48387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4"/>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Discrepancies and Missing Information</a:t>
            </a:r>
            <a:endParaRPr/>
          </a:p>
        </p:txBody>
      </p:sp>
      <p:sp>
        <p:nvSpPr>
          <p:cNvPr id="130" name="Google Shape;130;p24"/>
          <p:cNvSpPr txBox="1"/>
          <p:nvPr>
            <p:ph idx="1" type="body"/>
          </p:nvPr>
        </p:nvSpPr>
        <p:spPr>
          <a:xfrm>
            <a:off x="311700" y="1171600"/>
            <a:ext cx="8520600" cy="3397200"/>
          </a:xfrm>
          <a:prstGeom prst="rect">
            <a:avLst/>
          </a:prstGeom>
        </p:spPr>
        <p:txBody>
          <a:bodyPr anchorCtr="0" anchor="t" bIns="91425" lIns="91425" spcFirstLastPara="1" rIns="91425" wrap="square" tIns="91425">
            <a:normAutofit fontScale="77500" lnSpcReduction="10000"/>
          </a:bodyPr>
          <a:lstStyle/>
          <a:p>
            <a:pPr indent="0" lvl="0" marL="0" rtl="0" algn="l">
              <a:spcBef>
                <a:spcPts val="0"/>
              </a:spcBef>
              <a:spcAft>
                <a:spcPts val="0"/>
              </a:spcAft>
              <a:buNone/>
            </a:pPr>
            <a:r>
              <a:rPr lang="en"/>
              <a:t>No Surge Pricing:</a:t>
            </a:r>
            <a:endParaRPr/>
          </a:p>
          <a:p>
            <a:pPr indent="-317182" lvl="0" marL="457200" rtl="0" algn="l">
              <a:spcBef>
                <a:spcPts val="1200"/>
              </a:spcBef>
              <a:spcAft>
                <a:spcPts val="0"/>
              </a:spcAft>
              <a:buSzPct val="100000"/>
              <a:buChar char="-"/>
            </a:pPr>
            <a:r>
              <a:rPr lang="en"/>
              <a:t>Uber dataset does not include surge pricing </a:t>
            </a:r>
            <a:endParaRPr/>
          </a:p>
          <a:p>
            <a:pPr indent="-317182" lvl="0" marL="457200" rtl="0" algn="l">
              <a:spcBef>
                <a:spcPts val="0"/>
              </a:spcBef>
              <a:spcAft>
                <a:spcPts val="0"/>
              </a:spcAft>
              <a:buSzPct val="100000"/>
              <a:buChar char="-"/>
            </a:pPr>
            <a:r>
              <a:rPr lang="en"/>
              <a:t>Our model could not capture the price peaks during high demand or bad weather</a:t>
            </a:r>
            <a:r>
              <a:rPr lang="en"/>
              <a:t> conditions</a:t>
            </a:r>
            <a:endParaRPr/>
          </a:p>
          <a:p>
            <a:pPr indent="0" lvl="0" marL="0" rtl="0" algn="l">
              <a:spcBef>
                <a:spcPts val="1200"/>
              </a:spcBef>
              <a:spcAft>
                <a:spcPts val="0"/>
              </a:spcAft>
              <a:buNone/>
            </a:pPr>
            <a:r>
              <a:rPr lang="en"/>
              <a:t>No Promotions/Discounts:</a:t>
            </a:r>
            <a:endParaRPr/>
          </a:p>
          <a:p>
            <a:pPr indent="-317182" lvl="0" marL="457200" rtl="0" algn="l">
              <a:spcBef>
                <a:spcPts val="1200"/>
              </a:spcBef>
              <a:spcAft>
                <a:spcPts val="0"/>
              </a:spcAft>
              <a:buSzPct val="100000"/>
              <a:buChar char="-"/>
            </a:pPr>
            <a:r>
              <a:rPr lang="en"/>
              <a:t>Ignored uber credits, coupons, and any price changes</a:t>
            </a:r>
            <a:endParaRPr/>
          </a:p>
          <a:p>
            <a:pPr indent="-317182" lvl="0" marL="457200" rtl="0" algn="l">
              <a:spcBef>
                <a:spcPts val="0"/>
              </a:spcBef>
              <a:spcAft>
                <a:spcPts val="0"/>
              </a:spcAft>
              <a:buSzPct val="100000"/>
              <a:buChar char="-"/>
            </a:pPr>
            <a:r>
              <a:rPr lang="en"/>
              <a:t>Low fares could not be explained properly </a:t>
            </a:r>
            <a:endParaRPr/>
          </a:p>
          <a:p>
            <a:pPr indent="0" lvl="0" marL="0" rtl="0" algn="l">
              <a:spcBef>
                <a:spcPts val="1200"/>
              </a:spcBef>
              <a:spcAft>
                <a:spcPts val="0"/>
              </a:spcAft>
              <a:buNone/>
            </a:pPr>
            <a:r>
              <a:rPr lang="en"/>
              <a:t>Early Uber:</a:t>
            </a:r>
            <a:endParaRPr/>
          </a:p>
          <a:p>
            <a:pPr indent="-317182" lvl="0" marL="457200" rtl="0" algn="l">
              <a:spcBef>
                <a:spcPts val="1200"/>
              </a:spcBef>
              <a:spcAft>
                <a:spcPts val="0"/>
              </a:spcAft>
              <a:buSzPct val="100000"/>
              <a:buChar char="-"/>
            </a:pPr>
            <a:r>
              <a:rPr lang="en"/>
              <a:t>Dataset is Uber’s early phase which is different from </a:t>
            </a:r>
            <a:r>
              <a:rPr lang="en"/>
              <a:t>today's user experience and pricing in 2025</a:t>
            </a:r>
            <a:endParaRPr/>
          </a:p>
          <a:p>
            <a:pPr indent="-317182" lvl="0" marL="457200" rtl="0" algn="l">
              <a:spcBef>
                <a:spcPts val="0"/>
              </a:spcBef>
              <a:spcAft>
                <a:spcPts val="0"/>
              </a:spcAft>
              <a:buSzPct val="100000"/>
              <a:buChar char="-"/>
            </a:pPr>
            <a:r>
              <a:rPr lang="en"/>
              <a:t>Ignores many of today’s features such as Uber One or UberX</a:t>
            </a:r>
            <a:endParaRPr/>
          </a:p>
          <a:p>
            <a:pPr indent="-317182" lvl="0" marL="457200" rtl="0" algn="l">
              <a:spcBef>
                <a:spcPts val="0"/>
              </a:spcBef>
              <a:spcAft>
                <a:spcPts val="0"/>
              </a:spcAft>
              <a:buSzPct val="100000"/>
              <a:buChar char="-"/>
            </a:pPr>
            <a:r>
              <a:rPr lang="en"/>
              <a:t>Dataset itself also lack of precise routes/distances with a few faulty outliers</a:t>
            </a:r>
            <a:br>
              <a:rPr lang="en"/>
            </a:b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5"/>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a:t>
            </a:r>
            <a:endParaRPr/>
          </a:p>
        </p:txBody>
      </p:sp>
      <p:sp>
        <p:nvSpPr>
          <p:cNvPr id="136" name="Google Shape;136;p25"/>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Successfully predicted total fare, fare per mile, and expensive rides</a:t>
            </a:r>
            <a:endParaRPr/>
          </a:p>
          <a:p>
            <a:pPr indent="-342900" lvl="0" marL="457200" rtl="0" algn="l">
              <a:spcBef>
                <a:spcPts val="0"/>
              </a:spcBef>
              <a:spcAft>
                <a:spcPts val="0"/>
              </a:spcAft>
              <a:buSzPts val="1800"/>
              <a:buChar char="-"/>
            </a:pPr>
            <a:r>
              <a:rPr lang="en"/>
              <a:t>(RF + NN) best classifier and was able to </a:t>
            </a:r>
            <a:r>
              <a:rPr lang="en"/>
              <a:t>achieve AUC of 0.9378</a:t>
            </a:r>
            <a:endParaRPr/>
          </a:p>
          <a:p>
            <a:pPr indent="-342900" lvl="0" marL="457200" rtl="0" algn="l">
              <a:spcBef>
                <a:spcPts val="0"/>
              </a:spcBef>
              <a:spcAft>
                <a:spcPts val="0"/>
              </a:spcAft>
              <a:buSzPts val="1800"/>
              <a:buChar char="-"/>
            </a:pPr>
            <a:r>
              <a:rPr lang="en"/>
              <a:t>Random Forest regression predicted fares with MAE of $1.72</a:t>
            </a:r>
            <a:endParaRPr/>
          </a:p>
          <a:p>
            <a:pPr indent="-342900" lvl="0" marL="457200" rtl="0" algn="l">
              <a:spcBef>
                <a:spcPts val="0"/>
              </a:spcBef>
              <a:spcAft>
                <a:spcPts val="0"/>
              </a:spcAft>
              <a:buSzPts val="1800"/>
              <a:buChar char="-"/>
            </a:pPr>
            <a:r>
              <a:rPr lang="en"/>
              <a:t>Feature Engineering such as distance, time bins, and rush hour helped improved our model’s performance </a:t>
            </a:r>
            <a:endParaRPr/>
          </a:p>
          <a:p>
            <a:pPr indent="-342900" lvl="0" marL="457200" rtl="0" algn="l">
              <a:spcBef>
                <a:spcPts val="0"/>
              </a:spcBef>
              <a:spcAft>
                <a:spcPts val="0"/>
              </a:spcAft>
              <a:buSzPts val="1800"/>
              <a:buChar char="-"/>
            </a:pPr>
            <a:r>
              <a:rPr lang="en"/>
              <a:t>Overall, the results showed that our model can capture pricing patterns, and with this older data, our model was still able to give decent estimates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6"/>
          <p:cNvSpPr txBox="1"/>
          <p:nvPr>
            <p:ph type="title"/>
          </p:nvPr>
        </p:nvSpPr>
        <p:spPr>
          <a:xfrm>
            <a:off x="311700" y="2265150"/>
            <a:ext cx="8520600" cy="613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chemeClr val="dk1"/>
              </a:buClr>
              <a:buSzPct val="36666"/>
              <a:buFont typeface="Arial"/>
              <a:buNone/>
            </a:pPr>
            <a:r>
              <a:rPr lang="en"/>
              <a:t>Thank You For Watching </a:t>
            </a:r>
            <a:endParaRPr/>
          </a:p>
          <a:p>
            <a:pPr indent="0" lvl="0" marL="0" rtl="0" algn="l">
              <a:spcBef>
                <a:spcPts val="0"/>
              </a:spcBef>
              <a:spcAft>
                <a:spcPts val="0"/>
              </a:spcAft>
              <a:buNone/>
            </a:pPr>
            <a:r>
              <a:t/>
            </a:r>
            <a:endParaRPr sz="1800"/>
          </a:p>
        </p:txBody>
      </p:sp>
      <p:sp>
        <p:nvSpPr>
          <p:cNvPr id="142" name="Google Shape;142;p26"/>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